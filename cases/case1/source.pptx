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5" r:id="rId4"/>
    <p:sldMasterId id="2147483677" r:id="rId5"/>
    <p:sldMasterId id="2147483682" r:id="rId6"/>
    <p:sldMasterId id="2147483687" r:id="rId7"/>
    <p:sldMasterId id="2147483692" r:id="rId8"/>
    <p:sldMasterId id="2147483697" r:id="rId9"/>
    <p:sldMasterId id="2147483702" r:id="rId10"/>
  </p:sldMasterIdLst>
  <p:notesMasterIdLst>
    <p:notesMasterId r:id="rId12"/>
  </p:notesMasterIdLst>
  <p:sldIdLst>
    <p:sldId id="256" r:id="rId11"/>
    <p:sldId id="278" r:id="rId13"/>
    <p:sldId id="279" r:id="rId14"/>
    <p:sldId id="257" r:id="rId15"/>
    <p:sldId id="258" r:id="rId16"/>
    <p:sldId id="259" r:id="rId17"/>
    <p:sldId id="283" r:id="rId18"/>
    <p:sldId id="260" r:id="rId19"/>
    <p:sldId id="285" r:id="rId20"/>
    <p:sldId id="287" r:id="rId21"/>
    <p:sldId id="261" r:id="rId22"/>
    <p:sldId id="289" r:id="rId23"/>
    <p:sldId id="262" r:id="rId24"/>
    <p:sldId id="290" r:id="rId25"/>
    <p:sldId id="263" r:id="rId26"/>
    <p:sldId id="291" r:id="rId27"/>
    <p:sldId id="264" r:id="rId28"/>
    <p:sldId id="265" r:id="rId29"/>
    <p:sldId id="267" r:id="rId30"/>
    <p:sldId id="268" r:id="rId31"/>
    <p:sldId id="269" r:id="rId32"/>
    <p:sldId id="28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81" r:id="rId41"/>
    <p:sldId id="282" r:id="rId42"/>
    <p:sldId id="270" r:id="rId4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4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222"/>
      </p:cViewPr>
      <p:guideLst>
        <p:guide orient="horz" pos="164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32.xml"/><Relationship Id="rId42" Type="http://schemas.openxmlformats.org/officeDocument/2006/relationships/slide" Target="slides/slide31.xml"/><Relationship Id="rId41" Type="http://schemas.openxmlformats.org/officeDocument/2006/relationships/slide" Target="slides/slide30.xml"/><Relationship Id="rId40" Type="http://schemas.openxmlformats.org/officeDocument/2006/relationships/slide" Target="slides/slide2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8.xml"/><Relationship Id="rId38" Type="http://schemas.openxmlformats.org/officeDocument/2006/relationships/slide" Target="slides/slide27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3" Type="http://schemas.openxmlformats.org/officeDocument/2006/relationships/slide" Target="slides/slide22.xml"/><Relationship Id="rId32" Type="http://schemas.openxmlformats.org/officeDocument/2006/relationships/slide" Target="slides/slide21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0" Type="http://schemas.openxmlformats.org/officeDocument/2006/relationships/slide" Target="slides/slide9.xml"/><Relationship Id="rId2" Type="http://schemas.openxmlformats.org/officeDocument/2006/relationships/theme" Target="theme/theme1.xml"/><Relationship Id="rId19" Type="http://schemas.openxmlformats.org/officeDocument/2006/relationships/slide" Target="slides/slide8.xml"/><Relationship Id="rId18" Type="http://schemas.openxmlformats.org/officeDocument/2006/relationships/slide" Target="slides/slide7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</c:v>
                </c:pt>
              </c:strCache>
            </c:strRef>
          </c:tx>
          <c:spPr>
            <a:solidFill>
              <a:schemeClr val="accent4">
                <a:tint val="58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6.4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VGPR</c:v>
                </c:pt>
              </c:strCache>
            </c:strRef>
          </c:tx>
          <c:spPr>
            <a:solidFill>
              <a:schemeClr val="accent4">
                <a:tint val="86000"/>
              </a:schemeClr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</c:v>
                </c:pt>
              </c:strCache>
            </c:strRef>
          </c:tx>
          <c:spPr>
            <a:solidFill>
              <a:schemeClr val="accent4">
                <a:shade val="8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Sheet1!$D$2</c:f>
              <c:numCache>
                <c:formatCode>General</c:formatCode>
                <c:ptCount val="1"/>
                <c:pt idx="0">
                  <c:v>14.9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sCR</c:v>
                </c:pt>
              </c:strCache>
            </c:strRef>
          </c:tx>
          <c:spPr>
            <a:solidFill>
              <a:schemeClr val="accent4">
                <a:shade val="58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Sheet1!$E$2</c:f>
              <c:numCache>
                <c:formatCode>General</c:formatCode>
                <c:ptCount val="1"/>
                <c:pt idx="0">
                  <c:v>27.7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637696127"/>
        <c:axId val="1637692767"/>
      </c:barChart>
      <c:catAx>
        <c:axId val="1637696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637692767"/>
        <c:crosses val="autoZero"/>
        <c:auto val="1"/>
        <c:lblAlgn val="ctr"/>
        <c:lblOffset val="100"/>
        <c:noMultiLvlLbl val="0"/>
      </c:catAx>
      <c:valAx>
        <c:axId val="163769276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 dirty="0"/>
                  <a:t>缓解率（</a:t>
                </a:r>
                <a:r>
                  <a:rPr lang="en-US" altLang="zh-CN" dirty="0"/>
                  <a:t>%</a:t>
                </a:r>
                <a:r>
                  <a:rPr lang="zh-CN" altLang="en-US" dirty="0"/>
                  <a:t>）</a:t>
                </a:r>
                <a:endParaRPr lang="zh-CN" alt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637696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e5cee86-acae-442a-9789-857d0ad7ebe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D232D-ABA7-4202-8CDB-60D44D2964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D232D-ABA7-4202-8CDB-60D44D2964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D232D-ABA7-4202-8CDB-60D44D2964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D232D-ABA7-4202-8CDB-60D44D2964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345866" y="896867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DBF7690-74BE-4A8A-ACFB-A7043729DC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00EEC17-5E1E-4039-9BBF-DD46AD0D0059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345866" y="896867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DBF7690-74BE-4A8A-ACFB-A7043729DC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00EEC17-5E1E-4039-9BBF-DD46AD0D0059}" type="slidenum">
              <a:rPr lang="zh-CN" altLang="en-US" smtClean="0"/>
            </a:fld>
            <a:endParaRPr lang="zh-CN" altLang="en-US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345866" y="1047339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457200">
              <a:lnSpc>
                <a:spcPct val="100000"/>
              </a:lnSpc>
              <a:defRPr sz="3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  <a:spcBef>
                <a:spcPct val="20000"/>
              </a:spcBef>
            </a:pPr>
            <a:r>
              <a:rPr lang="en-US" sz="3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subtitle style</a:t>
            </a:r>
            <a:endParaRPr lang="en-US" sz="3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1/27/13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2CC04A4-6042-445B-923F-C7A3379028E7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1/27/13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6E52E1E1-671A-4107-AD8D-D50477E9A328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defRPr sz="4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0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0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1/27/13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898E6A3A-05A0-4F1F-8540-11FEB7EC3348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1/27/13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A8D5F3DF-C920-4EA2-B4F2-C38708A2A0C0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1/27/13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472FD276-C08B-42D2-8C5F-074D79694EAA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1/27/13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5627E5A6-237A-4586-A555-8F8381A23118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1/27/13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D6DC865-CAD5-424A-829B-9A0D004561F3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2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1/27/13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63B958FF-D338-4F6B-879D-247A94DBD9C0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2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1/27/13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5376FC14-DE81-416C-8BCD-E8D4E7A1DA85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1/27/13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BC595F99-CE03-45DF-BAD5-760CED06533A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1/27/13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10961CAB-C366-42E8-B53B-BCF196125AD1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345866" y="896867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DBF7690-74BE-4A8A-ACFB-A7043729DC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00EEC17-5E1E-4039-9BBF-DD46AD0D0059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345866" y="896867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DBF7690-74BE-4A8A-ACFB-A7043729DC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00EEC17-5E1E-4039-9BBF-DD46AD0D0059}" type="slidenum">
              <a:rPr lang="zh-CN" altLang="en-US" smtClean="0"/>
            </a:fld>
            <a:endParaRPr lang="zh-CN" altLang="en-US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345866" y="1047339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345866" y="896867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DBF7690-74BE-4A8A-ACFB-A7043729DC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00EEC17-5E1E-4039-9BBF-DD46AD0D0059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345866" y="896867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DBF7690-74BE-4A8A-ACFB-A7043729DC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00EEC17-5E1E-4039-9BBF-DD46AD0D0059}" type="slidenum">
              <a:rPr lang="zh-CN" altLang="en-US" smtClean="0"/>
            </a:fld>
            <a:endParaRPr lang="zh-CN" altLang="en-US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345866" y="1047339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345866" y="896867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DBF7690-74BE-4A8A-ACFB-A7043729DC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00EEC17-5E1E-4039-9BBF-DD46AD0D0059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345866" y="896867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DBF7690-74BE-4A8A-ACFB-A7043729DC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00EEC17-5E1E-4039-9BBF-DD46AD0D0059}" type="slidenum">
              <a:rPr lang="zh-CN" altLang="en-US" smtClean="0"/>
            </a:fld>
            <a:endParaRPr lang="zh-CN" altLang="en-US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345866" y="1047339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345866" y="896867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DBF7690-74BE-4A8A-ACFB-A7043729DC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00EEC17-5E1E-4039-9BBF-DD46AD0D0059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345866" y="896867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DBF7690-74BE-4A8A-ACFB-A7043729DC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00EEC17-5E1E-4039-9BBF-DD46AD0D0059}" type="slidenum">
              <a:rPr lang="zh-CN" altLang="en-US" smtClean="0"/>
            </a:fld>
            <a:endParaRPr lang="zh-CN" altLang="en-US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345866" y="1047339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345866" y="896867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DBF7690-74BE-4A8A-ACFB-A7043729DC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00EEC17-5E1E-4039-9BBF-DD46AD0D0059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345866" y="896867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DBF7690-74BE-4A8A-ACFB-A7043729DC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00EEC17-5E1E-4039-9BBF-DD46AD0D0059}" type="slidenum">
              <a:rPr lang="zh-CN" altLang="en-US" smtClean="0"/>
            </a:fld>
            <a:endParaRPr lang="zh-CN" altLang="en-US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345866" y="1047339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345866" y="896867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DBF7690-74BE-4A8A-ACFB-A7043729DC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00EEC17-5E1E-4039-9BBF-DD46AD0D0059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345866" y="896867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DBF7690-74BE-4A8A-ACFB-A7043729DC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00EEC17-5E1E-4039-9BBF-DD46AD0D0059}" type="slidenum">
              <a:rPr lang="zh-CN" altLang="en-US" smtClean="0"/>
            </a:fld>
            <a:endParaRPr lang="zh-CN" altLang="en-US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345866" y="1047339"/>
            <a:ext cx="110079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7.xml.rels><?xml version="1.0" encoding="UTF-8" standalone="yes"?>
<Relationships xmlns="http://schemas.openxmlformats.org/package/2006/relationships"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_rels/slideMaster8.xml.rels><?xml version="1.0" encoding="UTF-8" standalone="yes"?>
<Relationships xmlns="http://schemas.openxmlformats.org/package/2006/relationships"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/Relationships>
</file>

<file path=ppt/slideMasters/_rels/slideMaster9.xml.rels><?xml version="1.0" encoding="UTF-8" standalone="yes"?>
<Relationships xmlns="http://schemas.openxmlformats.org/package/2006/relationships"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5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9.xml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4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4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chart" Target="../charts/char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.jpeg"/><Relationship Id="rId1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/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3175000" y="-635"/>
            <a:ext cx="9017635" cy="6858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0" y="0"/>
            <a:ext cx="3175000" cy="6858000"/>
          </a:xfrm>
          <a:prstGeom prst="roundRect">
            <a:avLst>
              <a:gd name="adj" fmla="val 0"/>
            </a:avLst>
          </a:prstGeom>
          <a:solidFill>
            <a:srgbClr val="1B3A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6350000"/>
            <a:ext cx="3175000" cy="508000"/>
          </a:xfrm>
          <a:prstGeom prst="roundRect">
            <a:avLst>
              <a:gd name="adj" fmla="val 0"/>
            </a:avLst>
          </a:prstGeom>
          <a:solidFill>
            <a:srgbClr val="162F5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12800" y="2438400"/>
            <a:ext cx="2362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0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苏州大学</a:t>
            </a:r>
            <a:endParaRPr lang="en-US" sz="2000" dirty="0"/>
          </a:p>
          <a:p>
            <a:pPr marL="0" indent="0" algn="l">
              <a:lnSpc>
                <a:spcPct val="108000"/>
              </a:lnSpc>
            </a:pPr>
            <a:r>
              <a:rPr lang="en-US" sz="2000" b="0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附属第一医院</a:t>
            </a:r>
            <a:endParaRPr lang="en-US" sz="2000" b="0" i="0" u="none" strike="noStrike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12800" y="3378200"/>
            <a:ext cx="762000" cy="381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565525" y="1270000"/>
            <a:ext cx="787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zh-CN" altLang="en-US" sz="4200" b="1" i="0" u="none" strike="noStrike" dirty="0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一例</a:t>
            </a:r>
            <a:r>
              <a:rPr lang="en-US" sz="4200" b="1" i="0" u="none" strike="noStrike" dirty="0" err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复发难治多发性骨髓瘤</a:t>
            </a:r>
            <a:endParaRPr lang="en-US" sz="1100" dirty="0"/>
          </a:p>
          <a:p>
            <a:pPr marL="0" indent="0" algn="l">
              <a:lnSpc>
                <a:spcPct val="104000"/>
              </a:lnSpc>
            </a:pPr>
            <a:r>
              <a:rPr lang="en-US" sz="4200" b="1" i="0" u="none" strike="noStrike" dirty="0" err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病例诊治分享</a:t>
            </a:r>
            <a:endParaRPr lang="en-US" sz="4200" b="1" i="0" u="none" strike="noStrike" dirty="0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810000" y="5054600"/>
            <a:ext cx="1778000" cy="50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图片 10"/>
          <p:cNvPicPr/>
          <p:nvPr/>
        </p:nvPicPr>
        <p:blipFill>
          <a:blip r:embed="rId2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86085" y="0"/>
            <a:ext cx="1605915" cy="1506220"/>
          </a:xfrm>
          <a:prstGeom prst="rect">
            <a:avLst/>
          </a:prstGeom>
        </p:spPr>
      </p:pic>
      <p:sp>
        <p:nvSpPr>
          <p:cNvPr id="13" name="AutoShape 5"/>
          <p:cNvSpPr/>
          <p:nvPr/>
        </p:nvSpPr>
        <p:spPr>
          <a:xfrm>
            <a:off x="812800" y="3689097"/>
            <a:ext cx="2362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2000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/>
          <p:cNvSpPr/>
          <p:nvPr/>
        </p:nvSpPr>
        <p:spPr>
          <a:xfrm>
            <a:off x="545164" y="272181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514350" indent="-514350">
              <a:buFont typeface="Arial" panose="020B0604020202090204"/>
              <a:buAutoNum type="arabicPeriod"/>
            </a:pPr>
            <a:r>
              <a:rPr lang="zh-CN" altLang="en-US" sz="3200" dirty="0"/>
              <a:t>病例回顾</a:t>
            </a:r>
            <a:endParaRPr lang="en-US" altLang="zh-CN" sz="3200" dirty="0"/>
          </a:p>
          <a:p>
            <a:pPr marL="514350" indent="-514350">
              <a:buFont typeface="Arial" panose="020B0604020202090204"/>
              <a:buAutoNum type="arabicPeriod"/>
            </a:pPr>
            <a:endParaRPr lang="en-US" altLang="zh-CN" sz="3200" dirty="0"/>
          </a:p>
          <a:p>
            <a:pPr marL="514350" indent="-514350">
              <a:buFont typeface="Arial" panose="020B0604020202090204"/>
              <a:buAutoNum type="arabicPeriod"/>
            </a:pPr>
            <a:r>
              <a:rPr lang="zh-CN" altLang="en-US" sz="3200" dirty="0"/>
              <a:t>文献回顾</a:t>
            </a:r>
            <a:endParaRPr lang="en-US" altLang="zh-CN" sz="3200" dirty="0"/>
          </a:p>
          <a:p>
            <a:pPr marL="514350" indent="-514350">
              <a:buFont typeface="Arial" panose="020B0604020202090204"/>
              <a:buAutoNum type="arabicPeriod"/>
            </a:pPr>
            <a:endParaRPr lang="en-US" altLang="zh-CN" sz="3200" dirty="0"/>
          </a:p>
          <a:p>
            <a:pPr marL="514350" indent="-514350">
              <a:buFont typeface="Arial" panose="020B0604020202090204"/>
              <a:buAutoNum type="arabicPeriod"/>
            </a:pPr>
            <a:r>
              <a:rPr lang="zh-CN" altLang="en-US" sz="3200" dirty="0"/>
              <a:t>总结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/>
          <p:cNvSpPr/>
          <p:nvPr/>
        </p:nvSpPr>
        <p:spPr>
          <a:xfrm>
            <a:off x="545164" y="272181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514350" indent="-514350">
              <a:buFont typeface="Arial" panose="020B0604020202090204"/>
              <a:buAutoNum type="arabicPeriod"/>
            </a:pPr>
            <a:r>
              <a:rPr lang="zh-CN" altLang="en-US" sz="3200" b="1" dirty="0">
                <a:solidFill>
                  <a:srgbClr val="C00000"/>
                </a:solidFill>
              </a:rPr>
              <a:t>病例回顾</a:t>
            </a:r>
            <a:endParaRPr lang="en-US" altLang="zh-CN" sz="3200" b="1" dirty="0">
              <a:solidFill>
                <a:srgbClr val="C00000"/>
              </a:solidFill>
            </a:endParaRPr>
          </a:p>
          <a:p>
            <a:pPr marL="514350" indent="-514350">
              <a:buFont typeface="Arial" panose="020B0604020202090204"/>
              <a:buAutoNum type="arabicPeriod"/>
            </a:pPr>
            <a:endParaRPr lang="en-US" altLang="zh-CN" sz="3200" dirty="0"/>
          </a:p>
          <a:p>
            <a:pPr marL="514350" indent="-514350">
              <a:buFont typeface="Arial" panose="020B0604020202090204"/>
              <a:buAutoNum type="arabicPeriod"/>
            </a:pPr>
            <a:r>
              <a:rPr lang="zh-CN" altLang="en-US" sz="3200" dirty="0"/>
              <a:t>文献回顾</a:t>
            </a:r>
            <a:endParaRPr lang="en-US" altLang="zh-CN" sz="3200" dirty="0"/>
          </a:p>
          <a:p>
            <a:pPr marL="514350" indent="-514350">
              <a:buFont typeface="Arial" panose="020B0604020202090204"/>
              <a:buAutoNum type="arabicPeriod"/>
            </a:pPr>
            <a:endParaRPr lang="en-US" altLang="zh-CN" sz="3200" dirty="0"/>
          </a:p>
          <a:p>
            <a:pPr marL="514350" indent="-514350">
              <a:buFont typeface="Arial" panose="020B0604020202090204"/>
              <a:buAutoNum type="arabicPeriod"/>
            </a:pPr>
            <a:r>
              <a:rPr lang="zh-CN" altLang="en-US" sz="3200" dirty="0"/>
              <a:t>总结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62000" y="736599"/>
            <a:ext cx="10094013" cy="3815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 dirty="0" err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患者基本情况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600200"/>
            <a:ext cx="1066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确诊多发性骨髓瘤3年余，多线治疗后复发难治，伴髓外浸润</a:t>
            </a:r>
            <a:endParaRPr lang="en-US" sz="18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2133600"/>
          <a:ext cx="10668000" cy="35966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8382000"/>
              </a:tblGrid>
              <a:tr h="520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内容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姓名 / 性别 / 年龄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800" b="0" i="0" u="none" strike="noStrike" dirty="0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WP</a:t>
                      </a:r>
                      <a:r>
                        <a:rPr lang="en-US" sz="1800" b="0" i="0" u="none" strike="noStrike" dirty="0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 ／ 女 ／ 39岁</a:t>
                      </a:r>
                      <a:endParaRPr lang="en-US" sz="1800" b="0" i="0" u="none" strike="noStrike" dirty="0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主诉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确诊多发性骨髓瘤3年余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确诊诊断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多发性骨髓瘤（IgG-λ型，DS IIIA，ISS II，RISS II）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既往史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既往体健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一般情况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 dirty="0" err="1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青年女性，慢性病程</a:t>
                      </a:r>
                      <a:endParaRPr lang="en-US" sz="1800" b="0" i="0" u="none" strike="noStrike" dirty="0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10414000" y="61976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11" name="图片 10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762000" y="708717"/>
            <a:ext cx="10086949" cy="2788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初诊与基线评估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74800"/>
            <a:ext cx="1112774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2023年1月起病：胸肋骨及腰背部疼痛，后累及全身，进行性加重</a:t>
            </a:r>
            <a:r>
              <a:rPr lang="en-US" altLang="zh-CN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，2023</a:t>
            </a:r>
            <a:r>
              <a:rPr lang="zh-CN" alt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</a:t>
            </a:r>
            <a:r>
              <a:rPr lang="zh-CN" alt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月至</a:t>
            </a:r>
            <a:r>
              <a:rPr lang="zh-CN" alt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我院就诊</a:t>
            </a:r>
            <a:endParaRPr lang="zh-CN" altLang="en-US" sz="18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/>
              <p:cNvGraphicFramePr>
                <a:graphicFrameLocks noGrp="1"/>
              </p:cNvGraphicFramePr>
              <p:nvPr/>
            </p:nvGraphicFramePr>
            <p:xfrm>
              <a:off x="604520" y="2006600"/>
              <a:ext cx="11587480" cy="4758690"/>
            </p:xfrm>
            <a:graphic>
              <a:graphicData uri="http://schemas.openxmlformats.org/drawingml/2006/table">
                <a:tbl>
                  <a:tblPr>
                    <a:effectLst/>
                  </a:tblPr>
                  <a:tblGrid>
                    <a:gridCol w="2520315"/>
                    <a:gridCol w="9067165"/>
                  </a:tblGrid>
                  <a:tr h="48006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800" b="1" i="0" u="none" strike="noStrike">
                              <a:solidFill>
                                <a:srgbClr val="FFFFFF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检查项目</a:t>
                          </a:r>
                          <a:endParaRPr lang="en-US" sz="1800" b="1" i="0" u="none" strike="noStrike">
                            <a:solidFill>
                              <a:srgbClr val="FFFFFF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1B3A6B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800" b="1" i="0" u="none" strike="noStrike">
                              <a:solidFill>
                                <a:srgbClr val="FFFFFF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结果</a:t>
                          </a:r>
                          <a:endParaRPr lang="en-US" sz="1800" b="1" i="0" u="none" strike="noStrike">
                            <a:solidFill>
                              <a:srgbClr val="FFFFFF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1B3A6B">
                            <a:alpha val="100000"/>
                          </a:srgbClr>
                        </a:solidFill>
                      </a:tcPr>
                    </a:tc>
                  </a:tr>
                  <a:tr h="49720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血常规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WBC </a:t>
                          </a:r>
                          <a14:m>
                            <m:oMath xmlns:m="http://schemas.openxmlformats.org/officeDocument/2006/math">
                              <m:r>
                                <a:rPr lang="en-US" sz="1600">
                                  <a:solidFill>
                                    <a:srgbClr val="2D2D2D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5</m:t>
                              </m:r>
                              <m:r>
                                <a:rPr lang="en-US" sz="1600">
                                  <a:solidFill>
                                    <a:srgbClr val="2D2D2D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.</m:t>
                              </m:r>
                              <m:r>
                                <a:rPr lang="en-US" sz="1600">
                                  <a:solidFill>
                                    <a:srgbClr val="2D2D2D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34</m:t>
                              </m:r>
                              <m:r>
                                <a:rPr lang="en-US" sz="1600">
                                  <a:solidFill>
                                    <a:srgbClr val="2D2D2D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600">
                                      <a:solidFill>
                                        <a:srgbClr val="2D2D2D"/>
                                      </a:solidFill>
                                      <a:latin typeface="Noto Sans SC" panose="020B0200000000000000" charset="-122"/>
                                      <a:ea typeface="Noto Sans SC" panose="020B0200000000000000" charset="-122"/>
                                      <a:cs typeface="Noto Sans SC" panose="020B0200000000000000" charset="-122"/>
                                      <a:sym typeface="Noto Sans SC" panose="020B0200000000000000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>
                                      <a:solidFill>
                                        <a:srgbClr val="2D2D2D"/>
                                      </a:solidFill>
                                      <a:latin typeface="Noto Sans SC" panose="020B0200000000000000" charset="-122"/>
                                      <a:ea typeface="Noto Sans SC" panose="020B0200000000000000" charset="-122"/>
                                      <a:cs typeface="Noto Sans SC" panose="020B0200000000000000" charset="-122"/>
                                      <a:sym typeface="Noto Sans SC" panose="020B0200000000000000" charset="-122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600">
                                      <a:solidFill>
                                        <a:srgbClr val="2D2D2D"/>
                                      </a:solidFill>
                                      <a:latin typeface="Noto Sans SC" panose="020B0200000000000000" charset="-122"/>
                                      <a:ea typeface="Noto Sans SC" panose="020B0200000000000000" charset="-122"/>
                                      <a:cs typeface="Noto Sans SC" panose="020B0200000000000000" charset="-122"/>
                                      <a:sym typeface="Noto Sans SC" panose="020B0200000000000000" charset="-122"/>
                                    </a:rPr>
                                    <m:t>9</m:t>
                                  </m:r>
                                </m:sup>
                              </m:sSup>
                              <m:r>
                                <a:rPr lang="en-US" sz="1600">
                                  <a:solidFill>
                                    <a:srgbClr val="2D2D2D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/</m:t>
                              </m:r>
                              <m:r>
                                <a:rPr lang="en-US" sz="1600">
                                  <a:solidFill>
                                    <a:srgbClr val="2D2D2D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𝐿</m:t>
                              </m:r>
                            </m:oMath>
                          </a14:m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，</a:t>
                          </a:r>
                          <a:r>
                            <a:rPr lang="en-US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Hb 98g/L</a:t>
                          </a: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，PLT </a:t>
                          </a:r>
                          <a14:m>
                            <m:oMath xmlns:m="http://schemas.openxmlformats.org/officeDocument/2006/math">
                              <m:r>
                                <a:rPr lang="en-US" sz="1600">
                                  <a:solidFill>
                                    <a:srgbClr val="2D2D2D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192</m:t>
                              </m:r>
                              <m:r>
                                <a:rPr lang="en-US" sz="1600">
                                  <a:solidFill>
                                    <a:srgbClr val="2D2D2D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600">
                                      <a:solidFill>
                                        <a:srgbClr val="2D2D2D"/>
                                      </a:solidFill>
                                      <a:latin typeface="Noto Sans SC" panose="020B0200000000000000" charset="-122"/>
                                      <a:ea typeface="Noto Sans SC" panose="020B0200000000000000" charset="-122"/>
                                      <a:cs typeface="Noto Sans SC" panose="020B0200000000000000" charset="-122"/>
                                      <a:sym typeface="Noto Sans SC" panose="020B0200000000000000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>
                                      <a:solidFill>
                                        <a:srgbClr val="2D2D2D"/>
                                      </a:solidFill>
                                      <a:latin typeface="Noto Sans SC" panose="020B0200000000000000" charset="-122"/>
                                      <a:ea typeface="Noto Sans SC" panose="020B0200000000000000" charset="-122"/>
                                      <a:cs typeface="Noto Sans SC" panose="020B0200000000000000" charset="-122"/>
                                      <a:sym typeface="Noto Sans SC" panose="020B0200000000000000" charset="-122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600">
                                      <a:solidFill>
                                        <a:srgbClr val="2D2D2D"/>
                                      </a:solidFill>
                                      <a:latin typeface="Noto Sans SC" panose="020B0200000000000000" charset="-122"/>
                                      <a:ea typeface="Noto Sans SC" panose="020B0200000000000000" charset="-122"/>
                                      <a:cs typeface="Noto Sans SC" panose="020B0200000000000000" charset="-122"/>
                                      <a:sym typeface="Noto Sans SC" panose="020B0200000000000000" charset="-122"/>
                                    </a:rPr>
                                    <m:t>9</m:t>
                                  </m:r>
                                </m:sup>
                              </m:sSup>
                              <m:r>
                                <a:rPr lang="en-US" sz="1600">
                                  <a:solidFill>
                                    <a:srgbClr val="2D2D2D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/</m:t>
                              </m:r>
                              <m:r>
                                <a:rPr lang="en-US" sz="1600">
                                  <a:solidFill>
                                    <a:srgbClr val="2D2D2D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𝐿</m:t>
                              </m:r>
                            </m:oMath>
                          </a14:m>
                          <a:endParaRPr lang="en-US" sz="1600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</a:tr>
                  <a:tr h="44704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生化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LDH 350U/L，TP 87.7g/L，ALB 31.4g/L，</a:t>
                          </a:r>
                          <a:r>
                            <a:rPr lang="en-US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GLB 56.3g/L</a:t>
                          </a: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，</a:t>
                          </a:r>
                          <a:r>
                            <a:rPr lang="en-US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LDH 350U/L</a:t>
                          </a: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，</a:t>
                          </a:r>
                          <a:r>
                            <a:rPr lang="en-US" altLang="zh-CN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URIC 50mol/L</a:t>
                          </a:r>
                          <a:endParaRPr lang="en-US" altLang="zh-CN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</a:tr>
                  <a:tr h="51054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体液免疫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IgG 51g/L</a:t>
                          </a: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，IgA 0.1g/L，IgM 0.13g/L，κ 0.4g/L，</a:t>
                          </a:r>
                          <a:r>
                            <a:rPr lang="en-US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λ 4.3g/L</a:t>
                          </a:r>
                          <a:endParaRPr lang="en-US" sz="1600" b="0" i="0" u="none" strike="noStrike">
                            <a:solidFill>
                              <a:srgbClr val="FF0000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</a:tr>
                  <a:tr h="48450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骨髓形态与活检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幼浆/瘤细胞约12%；骨髓活检浆细胞15%~17%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</a:tr>
                  <a:tr h="44704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BM免疫分型（NGF）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克隆性浆细胞3.765%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PB免疫分型（NGF）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克隆性浆细胞1.9*10-3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</a:tr>
                  <a:tr h="93472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5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MM-FISH（</a:t>
                          </a:r>
                          <a:r>
                            <a:rPr lang="zh-CN" alt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初诊</a:t>
                          </a:r>
                          <a:r>
                            <a:rPr lang="en-US" altLang="zh-CN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）</a:t>
                          </a:r>
                          <a:endParaRPr lang="en-US" altLang="zh-CN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5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13q14缺失14%，</a:t>
                          </a:r>
                          <a:r>
                            <a:rPr lang="en-US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1q21扩增8%</a:t>
                          </a: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，Rb1缺失15%，P53缺失阴性，IgH</a:t>
                          </a:r>
                          <a:r>
                            <a:rPr lang="zh-CN" alt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重排阳性</a:t>
                          </a:r>
                          <a:r>
                            <a:rPr lang="en-US" altLang="zh-CN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，</a:t>
                          </a:r>
                          <a:r>
                            <a:rPr lang="zh-CN" alt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加作为</a:t>
                          </a:r>
                          <a:r>
                            <a:rPr lang="en-US" altLang="zh-CN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FGFR3/IgH</a:t>
                          </a:r>
                          <a:r>
                            <a:rPr lang="zh-CN" altLang="en-US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重排阳性</a:t>
                          </a:r>
                          <a:r>
                            <a:rPr lang="en-US" altLang="zh-CN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20%</a:t>
                          </a:r>
                          <a:endParaRPr lang="en-US" altLang="zh-CN" sz="1600" b="0" i="0" u="none" strike="noStrike">
                            <a:solidFill>
                              <a:srgbClr val="FF0000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</a:tr>
                  <a:tr h="51054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基因突变（初诊）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KRAS 9.6%</a:t>
                          </a: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，IGLL5 27.3%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/>
              <p:cNvGraphicFramePr>
                <a:graphicFrameLocks noGrp="1"/>
              </p:cNvGraphicFramePr>
              <p:nvPr/>
            </p:nvGraphicFramePr>
            <p:xfrm>
              <a:off x="604520" y="2006600"/>
              <a:ext cx="11587480" cy="4758690"/>
            </p:xfrm>
            <a:graphic>
              <a:graphicData uri="http://schemas.openxmlformats.org/drawingml/2006/table">
                <a:tbl>
                  <a:tblPr>
                    <a:effectLst/>
                  </a:tblPr>
                  <a:tblGrid>
                    <a:gridCol w="2520315"/>
                    <a:gridCol w="9067165"/>
                  </a:tblGrid>
                  <a:tr h="48006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800" b="1" i="0" u="none" strike="noStrike">
                              <a:solidFill>
                                <a:srgbClr val="FFFFFF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检查项目</a:t>
                          </a:r>
                          <a:endParaRPr lang="en-US" sz="1800" b="1" i="0" u="none" strike="noStrike">
                            <a:solidFill>
                              <a:srgbClr val="FFFFFF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1B3A6B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800" b="1" i="0" u="none" strike="noStrike">
                              <a:solidFill>
                                <a:srgbClr val="FFFFFF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结果</a:t>
                          </a:r>
                          <a:endParaRPr lang="en-US" sz="1800" b="1" i="0" u="none" strike="noStrike">
                            <a:solidFill>
                              <a:srgbClr val="FFFFFF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1B3A6B">
                            <a:alpha val="100000"/>
                          </a:srgbClr>
                        </a:solidFill>
                      </a:tcPr>
                    </a:tc>
                  </a:tr>
                  <a:tr h="49720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血常规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1"/>
                        </a:blipFill>
                      </a:tcPr>
                    </a:tc>
                  </a:tr>
                  <a:tr h="44704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生化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LDH 350U/L，TP 87.7g/L，ALB 31.4g/L，</a:t>
                          </a:r>
                          <a:r>
                            <a:rPr lang="en-US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GLB 56.3g/L</a:t>
                          </a: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，</a:t>
                          </a:r>
                          <a:r>
                            <a:rPr lang="en-US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LDH 350U/L</a:t>
                          </a: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，</a:t>
                          </a:r>
                          <a:r>
                            <a:rPr lang="en-US" altLang="zh-CN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URIC 50mol/L</a:t>
                          </a:r>
                          <a:endParaRPr lang="en-US" altLang="zh-CN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</a:tr>
                  <a:tr h="51054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体液免疫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IgG 51g/L</a:t>
                          </a: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，IgA 0.1g/L，IgM 0.13g/L，κ 0.4g/L，</a:t>
                          </a:r>
                          <a:r>
                            <a:rPr lang="en-US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λ 4.3g/L</a:t>
                          </a:r>
                          <a:endParaRPr lang="en-US" sz="1600" b="0" i="0" u="none" strike="noStrike">
                            <a:solidFill>
                              <a:srgbClr val="FF0000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</a:tr>
                  <a:tr h="48450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骨髓形态与活检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幼浆/瘤细胞约12%；骨髓活检浆细胞15%~17%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</a:tr>
                  <a:tr h="44704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BM免疫分型（NGF）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克隆性浆细胞3.765%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</a:tr>
                  <a:tr h="447040">
                    <a:tc>
                      <a:txBody>
                        <a:bodyPr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PB免疫分型（NGF）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克隆性浆细胞1.9*10-3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</a:tr>
                  <a:tr h="93472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5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MM-FISH（</a:t>
                          </a:r>
                          <a:r>
                            <a:rPr lang="zh-CN" alt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初诊</a:t>
                          </a:r>
                          <a:r>
                            <a:rPr lang="en-US" altLang="zh-CN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）</a:t>
                          </a:r>
                          <a:endParaRPr lang="en-US" altLang="zh-CN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5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13q14缺失14%，</a:t>
                          </a:r>
                          <a:r>
                            <a:rPr lang="en-US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1q21扩增8%</a:t>
                          </a: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，Rb1缺失15%，P53缺失阴性，IgH</a:t>
                          </a:r>
                          <a:r>
                            <a:rPr lang="zh-CN" alt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重排阳性</a:t>
                          </a:r>
                          <a:r>
                            <a:rPr lang="en-US" altLang="zh-CN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，</a:t>
                          </a:r>
                          <a:r>
                            <a:rPr lang="zh-CN" alt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加作为</a:t>
                          </a:r>
                          <a:r>
                            <a:rPr lang="en-US" altLang="zh-CN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FGFR3/IgH</a:t>
                          </a:r>
                          <a:r>
                            <a:rPr lang="zh-CN" altLang="en-US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重排阳性</a:t>
                          </a:r>
                          <a:r>
                            <a:rPr lang="en-US" altLang="zh-CN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20%</a:t>
                          </a:r>
                          <a:endParaRPr lang="en-US" altLang="zh-CN" sz="1600" b="0" i="0" u="none" strike="noStrike">
                            <a:solidFill>
                              <a:srgbClr val="FF0000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</a:tr>
                  <a:tr h="51054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基因突变（初诊）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EDF1F6">
                            <a:alpha val="10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1600" b="0" i="0" u="none" strike="noStrike">
                              <a:solidFill>
                                <a:srgbClr val="FF0000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KRAS 9.6%</a:t>
                          </a:r>
                          <a:r>
                            <a:rPr lang="en-US" sz="1600" b="0" i="0" u="none" strike="noStrike">
                              <a:solidFill>
                                <a:srgbClr val="2D2D2D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a:t>，IGLL5 27.3%</a:t>
                          </a:r>
                          <a:endParaRPr lang="en-US" sz="1600" b="0" i="0" u="none" strike="noStrike">
                            <a:solidFill>
                              <a:srgbClr val="2D2D2D"/>
                            </a:solidFill>
                            <a:latin typeface="Noto Sans SC" panose="020B0200000000000000" charset="-122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endParaRPr>
                        </a:p>
                      </a:txBody>
                      <a:tcPr marL="101600" marR="101600" marT="101600" marB="1016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AutoShape 7"/>
          <p:cNvSpPr/>
          <p:nvPr/>
        </p:nvSpPr>
        <p:spPr>
          <a:xfrm>
            <a:off x="762000" y="6350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10" name="图片 9"/>
          <p:cNvPicPr/>
          <p:nvPr/>
        </p:nvPicPr>
        <p:blipFill>
          <a:blip r:embed="rId2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62000" y="736599"/>
            <a:ext cx="10187955" cy="692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初诊与基线评估（二）· 血清学与影像诊断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74800"/>
            <a:ext cx="25400" cy="254000"/>
          </a:xfrm>
          <a:prstGeom prst="roundRect">
            <a:avLst>
              <a:gd name="adj" fmla="val 0"/>
            </a:avLst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524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MM 全套（基线）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62000" y="1981200"/>
          <a:ext cx="5080000" cy="482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3175000"/>
              </a:tblGrid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指标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结果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血清蛋白</a:t>
                      </a:r>
                      <a:r>
                        <a:rPr lang="zh-CN" alt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电泳</a:t>
                      </a:r>
                      <a:endParaRPr lang="zh-CN" alt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40.9%（36.8918g/L）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血清</a:t>
                      </a: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免疫固定电泳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IgG-λ型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血清游离轻链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κ &lt;5.8 mg/L，λ 315 mg/L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尿蛋白电</a:t>
                      </a:r>
                      <a:r>
                        <a:rPr lang="zh-CN" alt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泳</a:t>
                      </a:r>
                      <a:endParaRPr lang="zh-CN" alt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提示生理性</a:t>
                      </a:r>
                      <a:r>
                        <a:rPr lang="zh-CN" alt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蛋白尿</a:t>
                      </a:r>
                      <a:endParaRPr lang="zh-CN" alt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尿</a:t>
                      </a: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免疫固定电泳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λ</a:t>
                      </a:r>
                      <a:r>
                        <a:rPr lang="zh-CN" alt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轻链</a:t>
                      </a: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型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sBCMA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158.2 ng/mL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β2-MG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2.17 mg/L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24h尿蛋白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0.49 g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VEGF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218.44 pg/ml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6096000" y="1574800"/>
            <a:ext cx="25400" cy="254000"/>
          </a:xfrm>
          <a:prstGeom prst="roundRect">
            <a:avLst>
              <a:gd name="adj" fmla="val 0"/>
            </a:avLst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影像评估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21400" y="2857500"/>
            <a:ext cx="5333365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PET-CT：</a:t>
            </a:r>
            <a:r>
              <a:rPr lang="zh-CN" altLang="en-US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多发骨质破坏伴高代谢</a:t>
            </a:r>
            <a:r>
              <a:rPr lang="en-US" altLang="zh-CN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SUVmax 15.2，左肩</a:t>
            </a:r>
            <a:r>
              <a:rPr lang="zh-CN" alt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关节三角肌走行区局限性高代谢</a:t>
            </a:r>
            <a:r>
              <a:rPr lang="en-US" altLang="zh-CN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SUVmax </a:t>
            </a: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8.2），</a:t>
            </a:r>
            <a:r>
              <a:rPr lang="zh-CN" alt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骨髓瘤侵犯可能</a:t>
            </a:r>
            <a:r>
              <a:rPr lang="en-US" altLang="zh-CN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800"/>
          </a:p>
          <a:p>
            <a:pPr marL="0" indent="0" algn="l">
              <a:lnSpc>
                <a:spcPct val="150000"/>
              </a:lnSpc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类PET：</a:t>
            </a:r>
            <a:r>
              <a:rPr lang="zh-CN" alt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胸骨</a:t>
            </a:r>
            <a:r>
              <a:rPr lang="en-US" altLang="zh-CN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双侧肱骨</a:t>
            </a:r>
            <a:r>
              <a:rPr lang="en-US" altLang="zh-CN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多发肋骨</a:t>
            </a:r>
            <a:r>
              <a:rPr lang="en-US" altLang="zh-CN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胸腰椎及附件</a:t>
            </a:r>
            <a:r>
              <a:rPr lang="en-US" altLang="zh-CN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骨盆及双侧股骨</a:t>
            </a:r>
            <a:r>
              <a:rPr 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多发弥散受限，L5-S1椎间盘突出</a:t>
            </a:r>
            <a:endParaRPr lang="en-US" sz="180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endParaRPr lang="en-US" sz="180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6350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414000" y="63500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16" name="图片 15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62000" y="736599"/>
            <a:ext cx="10187955" cy="692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确诊诊断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9800" y="2857500"/>
            <a:ext cx="947356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200000"/>
              </a:lnSpc>
              <a:defRPr/>
            </a:pPr>
            <a:r>
              <a:rPr lang="zh-CN" alt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青年女性</a:t>
            </a:r>
            <a:r>
              <a:rPr lang="en-US" altLang="zh-CN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8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合并多发骨质破坏、椎体及肋骨病变，</a:t>
            </a:r>
            <a:r>
              <a:rPr lang="zh-CN" altLang="en-US" sz="18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高危细胞遗传学异常，</a:t>
            </a:r>
            <a:r>
              <a:rPr lang="en-US" altLang="zh-CN" sz="18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1q21+t（4；14）</a:t>
            </a:r>
            <a:endParaRPr lang="en-US" sz="18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200000"/>
              </a:lnSpc>
              <a:defRPr/>
            </a:pP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多发性骨髓瘤（IgG-λ型）</a:t>
            </a:r>
            <a:endParaRPr lang="en-US" sz="1800"/>
          </a:p>
          <a:p>
            <a:pPr marL="0" indent="0" algn="l">
              <a:lnSpc>
                <a:spcPct val="200000"/>
              </a:lnSpc>
            </a:pP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DS分期 IIIA </a:t>
            </a:r>
            <a:endParaRPr lang="en-US" sz="18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200000"/>
              </a:lnSpc>
            </a:pP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ISS分期 II </a:t>
            </a:r>
            <a:endParaRPr lang="en-US" sz="18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200000"/>
              </a:lnSpc>
            </a:pP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RISS分期 II</a:t>
            </a:r>
            <a:endParaRPr lang="en-US" sz="18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200000"/>
              </a:lnSpc>
            </a:pPr>
            <a:endParaRPr lang="en-US" sz="18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6350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414000" y="63500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16" name="图片 15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62000" y="736599"/>
            <a:ext cx="10264155" cy="683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治疗历程（一）· 一线治疗与自体移植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8656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初诊后于2023年6月起接受一线诱导治疗并序贯自体移植</a:t>
            </a:r>
            <a:endParaRPr lang="en-US" sz="1800"/>
          </a:p>
        </p:txBody>
      </p:sp>
      <p:cxnSp>
        <p:nvCxnSpPr>
          <p:cNvPr id="6" name="Connector 6"/>
          <p:cNvCxnSpPr/>
          <p:nvPr/>
        </p:nvCxnSpPr>
        <p:spPr>
          <a:xfrm>
            <a:off x="838200" y="2209800"/>
            <a:ext cx="0" cy="443738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762000" y="2133600"/>
            <a:ext cx="152400" cy="152400"/>
          </a:xfrm>
          <a:prstGeom prst="ellipse">
            <a:avLst/>
          </a:prstGeom>
          <a:solidFill>
            <a:srgbClr val="1B3A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08405" y="2108200"/>
            <a:ext cx="711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2023.06.29</a:t>
            </a:r>
            <a:endParaRPr lang="en-US" sz="1600"/>
          </a:p>
        </p:txBody>
      </p:sp>
      <p:sp>
        <p:nvSpPr>
          <p:cNvPr id="9" name="AutoShape 9"/>
          <p:cNvSpPr/>
          <p:nvPr/>
        </p:nvSpPr>
        <p:spPr>
          <a:xfrm>
            <a:off x="1208405" y="2629535"/>
            <a:ext cx="10667365" cy="19380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5000"/>
              </a:lnSpc>
              <a:defRPr/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 VRD 方案治疗，共4周期</a:t>
            </a: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5000"/>
              </a:lnSpc>
              <a:defRPr/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疗程后复查</a:t>
            </a:r>
            <a:endParaRPr lang="zh-CN" alt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5000"/>
              </a:lnSpc>
              <a:defRPr/>
            </a:pP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M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蛋白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6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0.9352g/L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IgG-λ型，κ 6.73mg/L，λ 8.01mg/L</a:t>
            </a:r>
            <a:endParaRPr lang="en-US" sz="160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5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骨髓形态浆细胞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0.5%</a:t>
            </a:r>
            <a:endParaRPr lang="en-US" altLang="zh-CN" sz="160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5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BM-NGF-MRD：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9.1*10</a:t>
            </a:r>
            <a:r>
              <a:rPr lang="en-US" altLang="zh-CN" sz="1600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-4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的浆细胞群体为单克隆性浆细胞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，BM-NGS-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MRD：3.21*10</a:t>
            </a:r>
            <a:r>
              <a:rPr lang="en-US" altLang="zh-CN" sz="1600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-4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基线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1.46*10</a:t>
            </a:r>
            <a:r>
              <a:rPr lang="en-US" altLang="zh-CN" sz="1600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-1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160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5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DWI-MRI：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多骨弥散受限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较前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2023-06-28</a:t>
            </a:r>
            <a:r>
              <a:rPr lang="zh-CN" altLang="en-US" sz="1600" b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明显好转</a:t>
            </a:r>
            <a:endParaRPr lang="zh-CN" altLang="en-US" sz="1600" b="1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5000"/>
              </a:lnSpc>
              <a:defRPr/>
            </a:pP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疗效评估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sz="1600" b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VGPR</a:t>
            </a:r>
            <a:endParaRPr lang="en-US" altLang="zh-CN" sz="1600" b="1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876800"/>
            <a:ext cx="152400" cy="152400"/>
          </a:xfrm>
          <a:prstGeom prst="ellipse">
            <a:avLst/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1" name="AutoShape 11"/>
          <p:cNvSpPr/>
          <p:nvPr/>
        </p:nvSpPr>
        <p:spPr>
          <a:xfrm>
            <a:off x="1208405" y="4834255"/>
            <a:ext cx="711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2023.11.05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208405" y="5177155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行干细胞采集，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其中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MNC：6.9*10</a:t>
            </a:r>
            <a:r>
              <a:rPr lang="en-US" altLang="zh-CN" sz="1600" b="0" i="0" u="none" strike="noStrike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/kg，CD34+ 5.106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*10</a:t>
            </a:r>
            <a:r>
              <a:rPr lang="en-US" altLang="zh-CN" sz="1600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/kg</a:t>
            </a:r>
            <a:endParaRPr lang="en-US" altLang="zh-CN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993130"/>
            <a:ext cx="152400" cy="152400"/>
          </a:xfrm>
          <a:prstGeom prst="ellipse">
            <a:avLst/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4" name="AutoShape 14"/>
          <p:cNvSpPr/>
          <p:nvPr/>
        </p:nvSpPr>
        <p:spPr>
          <a:xfrm>
            <a:off x="1208405" y="5890895"/>
            <a:ext cx="711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2023.12.19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208405" y="6299200"/>
            <a:ext cx="1066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行自体造血干细胞移植，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美法仑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200mg/m</a:t>
            </a:r>
            <a:r>
              <a:rPr lang="en-US" altLang="zh-CN" sz="1600" b="0" i="0" u="none" strike="noStrike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预处理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回输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MNC：3.45*10</a:t>
            </a:r>
            <a:r>
              <a:rPr lang="en-US" altLang="zh-CN" sz="1600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/kg，CD34+ 2.553*10</a:t>
            </a:r>
            <a:r>
              <a:rPr lang="en-US" altLang="zh-CN" sz="1600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/kg，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剩余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冻存</a:t>
            </a:r>
            <a:endParaRPr lang="zh-CN" altLang="en-US" sz="160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62000" y="6578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27" name="图片 26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62000" y="736599"/>
            <a:ext cx="10264155" cy="683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治疗历程（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</a:t>
            </a: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）· 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采集淋巴细胞及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巩固</a:t>
            </a:r>
            <a:endParaRPr lang="zh-CN" altLang="en-US" sz="2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01700" y="1674495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移植后</a:t>
            </a:r>
            <a:r>
              <a:rPr lang="en-US" altLang="zh-CN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</a:t>
            </a:r>
            <a:r>
              <a:rPr lang="zh-CN" alt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蛋白未转阴</a:t>
            </a:r>
            <a:r>
              <a:rPr lang="en-US" altLang="zh-CN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有升高</a:t>
            </a:r>
            <a:r>
              <a:rPr lang="zh-CN" alt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趋势</a:t>
            </a:r>
            <a:endParaRPr lang="zh-CN" altLang="en-US" sz="1800" b="0" i="0" u="none" strike="noStrike">
              <a:solidFill>
                <a:srgbClr val="5F7A9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>
            <a:off x="977900" y="2209800"/>
            <a:ext cx="0" cy="387223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901700" y="2133600"/>
            <a:ext cx="152400" cy="152400"/>
          </a:xfrm>
          <a:prstGeom prst="ellipse">
            <a:avLst/>
          </a:prstGeom>
          <a:solidFill>
            <a:srgbClr val="1B3A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01700" y="4165600"/>
            <a:ext cx="152400" cy="152400"/>
          </a:xfrm>
          <a:prstGeom prst="ellipse">
            <a:avLst/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7" name="AutoShape 17"/>
          <p:cNvSpPr/>
          <p:nvPr/>
        </p:nvSpPr>
        <p:spPr>
          <a:xfrm>
            <a:off x="1355725" y="2090420"/>
            <a:ext cx="711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2024.03.07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355725" y="2662555"/>
            <a:ext cx="9525000" cy="13163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移植后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月复查</a:t>
            </a:r>
            <a:endParaRPr lang="zh-CN" alt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M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蛋白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3.7996g/L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IgG-λ型，κ 12.81mg/L，λ 16.29mg/L</a:t>
            </a:r>
            <a:endParaRPr lang="en-US" sz="160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骨髓形态浆细胞少见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骨髓活检浆细胞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&lt;2%</a:t>
            </a:r>
            <a:endParaRPr lang="en-US" altLang="zh-CN" sz="160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BM-NGS-MRD：2.04*10</a:t>
            </a:r>
            <a:r>
              <a:rPr lang="en-US" altLang="zh-CN" sz="1600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-4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移植前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3.32*10</a:t>
            </a:r>
            <a:r>
              <a:rPr lang="en-US" altLang="zh-CN" sz="1600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-4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基线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1.46*10</a:t>
            </a:r>
            <a:r>
              <a:rPr lang="en-US" altLang="zh-CN" sz="1600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-1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160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  <a:defRPr/>
            </a:pP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01700" y="5232400"/>
            <a:ext cx="152400" cy="152400"/>
          </a:xfrm>
          <a:prstGeom prst="ellipse">
            <a:avLst/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20" name="AutoShape 20"/>
          <p:cNvSpPr/>
          <p:nvPr/>
        </p:nvSpPr>
        <p:spPr>
          <a:xfrm>
            <a:off x="1355725" y="4093210"/>
            <a:ext cx="711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2024.03.12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355725" y="448691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家属意愿积极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采集淋巴细胞，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后续拟行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CART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治疗</a:t>
            </a:r>
            <a:endParaRPr lang="zh-CN" alt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62000" y="66548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27" name="图片 26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sp>
        <p:nvSpPr>
          <p:cNvPr id="28" name="AutoShape 21"/>
          <p:cNvSpPr/>
          <p:nvPr/>
        </p:nvSpPr>
        <p:spPr>
          <a:xfrm>
            <a:off x="1355725" y="5570855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 KD 方案巩固，d1 20mg/m</a:t>
            </a:r>
            <a:r>
              <a:rPr lang="en-US" sz="1600" b="0" i="0" u="none" strike="noStrike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，d2 27mg/m</a:t>
            </a:r>
            <a:r>
              <a:rPr lang="en-US" sz="1600" b="0" i="0" u="none" strike="noStrike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，36mg/m</a:t>
            </a:r>
            <a:r>
              <a:rPr lang="en-US" sz="1600" b="0" i="0" u="none" strike="noStrike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d8-9，</a:t>
            </a: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d15-16</a:t>
            </a: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0"/>
          <p:cNvSpPr/>
          <p:nvPr/>
        </p:nvSpPr>
        <p:spPr>
          <a:xfrm>
            <a:off x="1355725" y="5177155"/>
            <a:ext cx="711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2024.03.12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62000" y="736599"/>
            <a:ext cx="10264155" cy="683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治疗历程（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</a:t>
            </a: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）· 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髓外进展</a:t>
            </a:r>
            <a:endParaRPr lang="zh-CN" altLang="en-US" sz="2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01700" y="1661795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KD</a:t>
            </a:r>
            <a:r>
              <a:rPr lang="zh-CN" alt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巩固过程中出现右肩疼痛明显</a:t>
            </a:r>
            <a:r>
              <a:rPr lang="en-US" altLang="zh-CN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查体可见质硬肿块</a:t>
            </a:r>
            <a:r>
              <a:rPr lang="en-US" altLang="zh-CN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约</a:t>
            </a:r>
            <a:r>
              <a:rPr lang="en-US" altLang="zh-CN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5*7</a:t>
            </a:r>
            <a:r>
              <a:rPr lang="en-US" altLang="zh-CN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cm</a:t>
            </a:r>
            <a:endParaRPr lang="en-US" altLang="zh-CN" sz="1800" b="0" i="0" u="none" strike="noStrike">
              <a:solidFill>
                <a:srgbClr val="5F7A9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>
            <a:off x="977900" y="2209800"/>
            <a:ext cx="0" cy="434530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901700" y="2133600"/>
            <a:ext cx="152400" cy="152400"/>
          </a:xfrm>
          <a:prstGeom prst="ellipse">
            <a:avLst/>
          </a:prstGeom>
          <a:solidFill>
            <a:srgbClr val="1B3A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01700" y="5015865"/>
            <a:ext cx="152400" cy="152400"/>
          </a:xfrm>
          <a:prstGeom prst="ellipse">
            <a:avLst/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7" name="AutoShape 17"/>
          <p:cNvSpPr/>
          <p:nvPr/>
        </p:nvSpPr>
        <p:spPr>
          <a:xfrm>
            <a:off x="1355725" y="2090420"/>
            <a:ext cx="711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2024.05.08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355725" y="2840990"/>
            <a:ext cx="6701155" cy="13163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蛋白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10.6412g/L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IgG-λ型，κ 9.67mg/L，λ 87.82mg/L</a:t>
            </a:r>
            <a:endParaRPr lang="en-US" sz="160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骨髓形态浆细胞少见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骨髓活检浆细胞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&lt;2%</a:t>
            </a:r>
            <a:endParaRPr lang="en-US" altLang="zh-CN" sz="160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BM-NGF-MRD：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2.1*10</a:t>
            </a:r>
            <a:r>
              <a:rPr lang="en-US" altLang="zh-CN" sz="1600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-4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的浆细胞群体为单克隆性浆细胞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endParaRPr lang="en-US" altLang="zh-CN" sz="160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  <a:defRPr/>
            </a:pP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PET-CT：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全身骨骼多处骨质破坏伴糖代谢增高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右侧肩胛骨后方肌肉肿块伴糖代谢增高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（SUVmax：9.39，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大小约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76*54mm），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右侧腮腺结节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胰腺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肝脏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脾脏等处糖代谢增高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灶</a:t>
            </a:r>
            <a:endParaRPr lang="zh-CN" alt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355725" y="5005705"/>
            <a:ext cx="711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2024.05.12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355725" y="5525135"/>
            <a:ext cx="6412230" cy="8566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完善右肩胛区肿块穿刺</a:t>
            </a:r>
            <a:endParaRPr lang="zh-CN" alt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组织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NGF-MRD：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36.4%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的浆细胞群体为单克隆性浆细胞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600" b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BCMA 99%</a:t>
            </a:r>
            <a:endParaRPr lang="en-US" altLang="zh-CN" sz="160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基因突变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组织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）：NARS 34.8%，IGLL5 68.10%，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TET1 37.8%</a:t>
            </a:r>
            <a:endParaRPr lang="en-US" altLang="zh-CN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62000" y="66548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27" name="图片 26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pic>
        <p:nvPicPr>
          <p:cNvPr id="8" name="图片 7" descr="魏盼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30" y="1581150"/>
            <a:ext cx="3589655" cy="2278380"/>
          </a:xfrm>
          <a:prstGeom prst="rect">
            <a:avLst/>
          </a:prstGeom>
        </p:spPr>
      </p:pic>
      <p:pic>
        <p:nvPicPr>
          <p:cNvPr id="9" name="图片 8" descr="魏盼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575" y="4217670"/>
            <a:ext cx="4416425" cy="2332355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8820785" y="2378075"/>
            <a:ext cx="827405" cy="803910"/>
          </a:xfrm>
          <a:prstGeom prst="ellipse">
            <a:avLst/>
          </a:prstGeom>
          <a:noFill/>
          <a:ln w="53975" cap="flat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62000" y="736599"/>
            <a:ext cx="10052066" cy="708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治疗历程（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</a:t>
            </a: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）· BCMA CAR-T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flipH="1">
            <a:off x="850826" y="1892300"/>
            <a:ext cx="73" cy="264479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774700" y="1816100"/>
            <a:ext cx="152400" cy="152400"/>
          </a:xfrm>
          <a:prstGeom prst="ellipse">
            <a:avLst/>
          </a:prstGeom>
          <a:solidFill>
            <a:srgbClr val="1B3A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7" name="AutoShape 7"/>
          <p:cNvSpPr/>
          <p:nvPr/>
        </p:nvSpPr>
        <p:spPr>
          <a:xfrm>
            <a:off x="1231900" y="17145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2024.05.13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231900" y="2010410"/>
            <a:ext cx="804037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FC 方案预处理，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氟达拉滨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30mg/m</a:t>
            </a:r>
            <a:r>
              <a:rPr lang="en-US" altLang="zh-CN" sz="1600" b="0" i="0" u="none" strike="noStrike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d1-3，CTX 500mg/m</a:t>
            </a:r>
            <a:r>
              <a:rPr lang="en-US" altLang="zh-CN" sz="1600" b="0" i="0" u="none" strike="noStrike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d1-3</a:t>
            </a:r>
            <a:endParaRPr lang="en-US" altLang="zh-CN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74700" y="2781300"/>
            <a:ext cx="152400" cy="152400"/>
          </a:xfrm>
          <a:prstGeom prst="ellipse">
            <a:avLst/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0" name="AutoShape 10"/>
          <p:cNvSpPr/>
          <p:nvPr/>
        </p:nvSpPr>
        <p:spPr>
          <a:xfrm>
            <a:off x="1231900" y="26797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2024.05.17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31900" y="3068955"/>
            <a:ext cx="6423660" cy="2266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回输 BCMA CAR-T 细胞，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回输过程顺利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无明显不适</a:t>
            </a:r>
            <a:endParaRPr lang="zh-CN" alt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74700" y="3746500"/>
            <a:ext cx="152400" cy="152400"/>
          </a:xfrm>
          <a:prstGeom prst="ellipse">
            <a:avLst/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3" name="AutoShape 13"/>
          <p:cNvSpPr/>
          <p:nvPr/>
        </p:nvSpPr>
        <p:spPr>
          <a:xfrm>
            <a:off x="1231900" y="36449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2025.05.23 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244600" y="4176395"/>
            <a:ext cx="4373880" cy="350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出现反复发热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伴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IL-6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升高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考虑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CRS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反应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级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予以托珠单抗治疗后体温控制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回落</a:t>
            </a:r>
            <a:endParaRPr lang="zh-CN" alt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64008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414000" y="64008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27" name="图片 26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pic>
        <p:nvPicPr>
          <p:cNvPr id="17" name="图片 16" descr="魏盼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480" y="3515995"/>
            <a:ext cx="8233410" cy="31896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62000" y="736599"/>
            <a:ext cx="10052066" cy="708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871855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治疗历程（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</a:t>
            </a: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）· BCMA CAR-T 与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</a:t>
            </a: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缓解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760730" y="1964690"/>
            <a:ext cx="0" cy="485013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711200" y="1888490"/>
            <a:ext cx="152400" cy="152400"/>
          </a:xfrm>
          <a:prstGeom prst="ellipse">
            <a:avLst/>
          </a:prstGeom>
          <a:solidFill>
            <a:srgbClr val="1B3A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9" name="AutoShape 9"/>
          <p:cNvSpPr/>
          <p:nvPr/>
        </p:nvSpPr>
        <p:spPr>
          <a:xfrm>
            <a:off x="687070" y="4584065"/>
            <a:ext cx="152400" cy="152400"/>
          </a:xfrm>
          <a:prstGeom prst="ellipse">
            <a:avLst/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3" name="AutoShape 13"/>
          <p:cNvSpPr/>
          <p:nvPr/>
        </p:nvSpPr>
        <p:spPr>
          <a:xfrm>
            <a:off x="1049655" y="1801495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2024.06.20 评估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44575" y="1903095"/>
            <a:ext cx="7950835" cy="2571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M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蛋白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3.4017g/L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IgG-λ型，κ 0.58mg/L，λ 1.33mg/L</a:t>
            </a:r>
            <a:endParaRPr lang="zh-CN" altLang="en-US" sz="1600" b="1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骨髓形态浆细胞少见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骨髓活检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未见浆细胞</a:t>
            </a:r>
            <a:endParaRPr lang="zh-CN" altLang="en-US" sz="160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BM-NGF-MRD：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未见浆细胞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（&lt;2.8*10</a:t>
            </a:r>
            <a:r>
              <a:rPr lang="en-US" altLang="zh-CN" sz="1600" baseline="300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-5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，70w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细胞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en-US" altLang="zh-CN" sz="160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BM-NGS-MRD：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阴性</a:t>
            </a:r>
            <a:endParaRPr lang="en-US" altLang="zh-CN" sz="160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PET-CT：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全身骨骼多处骨质破坏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 b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部分糖代谢轻度增高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右侧肩胛骨后方肌肉伴糖代谢轻度增高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（SUVmax：2.1），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与前次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PET/CT（2024-05-08）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相比病灶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代谢减低</a:t>
            </a: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39800" y="4832985"/>
            <a:ext cx="9352280" cy="10636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M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蛋白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en-US" altLang="zh-CN" sz="1600" b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0.0806g/L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IgG-λ型，κ 0.56mg/L，λ 1.32mg/L</a:t>
            </a:r>
            <a:endParaRPr lang="zh-CN" altLang="en-US" sz="1600" b="1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PET-CT：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全身骨骼多处骨质密度不均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 b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未伴葡萄糖代谢增高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与前次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PET/CT（2024-06-20）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相比病灶代谢减低</a:t>
            </a: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骨骼病灶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代谢减低</a:t>
            </a:r>
            <a:endParaRPr lang="zh-CN" alt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39800" y="6520815"/>
            <a:ext cx="3632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1836400" y="64135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27" name="图片 26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sp>
        <p:nvSpPr>
          <p:cNvPr id="7" name="AutoShape 13"/>
          <p:cNvSpPr/>
          <p:nvPr/>
        </p:nvSpPr>
        <p:spPr>
          <a:xfrm>
            <a:off x="939800" y="44704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2024.09.11 评估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9"/>
          <p:cNvSpPr/>
          <p:nvPr/>
        </p:nvSpPr>
        <p:spPr>
          <a:xfrm>
            <a:off x="680720" y="6111240"/>
            <a:ext cx="152400" cy="152400"/>
          </a:xfrm>
          <a:prstGeom prst="ellipse">
            <a:avLst/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1" name="AutoShape 13"/>
          <p:cNvSpPr/>
          <p:nvPr/>
        </p:nvSpPr>
        <p:spPr>
          <a:xfrm>
            <a:off x="906780" y="6024245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2024.12.10 评估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5"/>
          <p:cNvSpPr/>
          <p:nvPr/>
        </p:nvSpPr>
        <p:spPr>
          <a:xfrm>
            <a:off x="866140" y="6137910"/>
            <a:ext cx="9352280" cy="8394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M</a:t>
            </a:r>
            <a:r>
              <a:rPr lang="zh-CN" alt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蛋白</a:t>
            </a:r>
            <a:r>
              <a:rPr lang="en-US" altLang="zh-CN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zh-CN" altLang="en-US" sz="1600" b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阴性</a:t>
            </a:r>
            <a:r>
              <a:rPr 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κ </a:t>
            </a:r>
            <a:r>
              <a:rPr 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1.25mg/L，λ 2.9mg/L，</a:t>
            </a:r>
            <a:r>
              <a:rPr lang="zh-CN" altLang="en-US" sz="1600" b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疗效评估</a:t>
            </a:r>
            <a:r>
              <a:rPr lang="en-US" altLang="zh-CN" sz="1600" b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sCR</a:t>
            </a:r>
            <a:endParaRPr lang="en-US" altLang="zh-CN" sz="1600" b="1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5"/>
          <p:cNvSpPr/>
          <p:nvPr/>
        </p:nvSpPr>
        <p:spPr>
          <a:xfrm>
            <a:off x="901700" y="1463675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CART</a:t>
            </a:r>
            <a:r>
              <a:rPr lang="zh-CN" alt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后予以泊马度胺</a:t>
            </a:r>
            <a:r>
              <a:rPr lang="zh-CN" alt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维持治疗</a:t>
            </a:r>
            <a:endParaRPr lang="zh-CN" altLang="en-US" sz="1800" b="0" i="0" u="none" strike="noStrike">
              <a:solidFill>
                <a:srgbClr val="5F7A9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8" name="图片 27" descr="魏盼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0"/>
            <a:ext cx="4184650" cy="3660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762000" y="732002"/>
            <a:ext cx="10264142" cy="459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治疗历程（</a:t>
            </a:r>
            <a:r>
              <a:rPr lang="zh-CN" alt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</a:t>
            </a:r>
            <a:r>
              <a:rPr 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）·</a:t>
            </a: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疾病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再次</a:t>
            </a: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髓外复发-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乳腺</a:t>
            </a:r>
            <a:endParaRPr lang="zh-CN" altLang="en-US" sz="2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7018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CAR-T 深度缓解约一年后出现髓外复发</a:t>
            </a:r>
            <a:endParaRPr lang="en-US" sz="1800"/>
          </a:p>
        </p:txBody>
      </p:sp>
      <p:sp>
        <p:nvSpPr>
          <p:cNvPr id="6" name="AutoShape 6"/>
          <p:cNvSpPr/>
          <p:nvPr/>
        </p:nvSpPr>
        <p:spPr>
          <a:xfrm>
            <a:off x="762000" y="2272030"/>
            <a:ext cx="25400" cy="254000"/>
          </a:xfrm>
          <a:prstGeom prst="roundRect">
            <a:avLst>
              <a:gd name="adj" fmla="val 0"/>
            </a:avLst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7" name="AutoShape 7"/>
          <p:cNvSpPr/>
          <p:nvPr/>
        </p:nvSpPr>
        <p:spPr>
          <a:xfrm>
            <a:off x="889000" y="222123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临床表现与检查</a:t>
            </a:r>
            <a:endParaRPr lang="en-US" sz="20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1365" y="2997200"/>
            <a:ext cx="52197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2025.09：</a:t>
            </a:r>
            <a:r>
              <a:rPr lang="zh-CN" alt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左侧</a:t>
            </a: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胸部出现硬块</a:t>
            </a:r>
            <a:endParaRPr lang="en-US" sz="1800"/>
          </a:p>
          <a:p>
            <a:pPr marL="0" indent="0" algn="l">
              <a:lnSpc>
                <a:spcPct val="150000"/>
              </a:lnSpc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-乳腺B超：</a:t>
            </a: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左乳9</a:t>
            </a:r>
            <a:r>
              <a:rPr lang="zh-CN" alt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点钟实性</a:t>
            </a: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结节，BI-RADS 4b类，5点</a:t>
            </a:r>
            <a:r>
              <a:rPr lang="zh-CN" altLang="en-US" sz="18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实性</a:t>
            </a:r>
            <a:r>
              <a:rPr lang="en-US" sz="18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结节</a:t>
            </a: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BI-RADS 3类</a:t>
            </a:r>
            <a:endParaRPr lang="en-US" sz="18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-PET-CT：</a:t>
            </a:r>
            <a:r>
              <a:rPr lang="zh-CN" altLang="en-US" sz="1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左侧乳腺内侧象限软组织肿物</a:t>
            </a:r>
            <a:r>
              <a:rPr lang="zh-CN" alt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伴</a:t>
            </a:r>
            <a:r>
              <a:rPr 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CXCR4 表达增高（SUVmax 3.73），</a:t>
            </a:r>
            <a:r>
              <a:rPr lang="zh-CN" altLang="en-US" sz="1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髂骨右翼</a:t>
            </a:r>
            <a:r>
              <a:rPr lang="en-US" sz="18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CXCR4 表达增高（SUVmax 5.32）</a:t>
            </a:r>
            <a:endParaRPr lang="en-US" sz="180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乳腺</a:t>
            </a:r>
            <a:r>
              <a:rPr lang="zh-CN" altLang="en-US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活检病理</a:t>
            </a:r>
            <a:r>
              <a:rPr lang="en-US" altLang="zh-CN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符合浆细胞瘤</a:t>
            </a:r>
            <a:r>
              <a:rPr lang="en-US" altLang="zh-CN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累及侵犯乳腺实质</a:t>
            </a:r>
            <a:endParaRPr lang="zh-CN" altLang="en-US" sz="180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389889">
            <a:off x="4000500" y="3803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3E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159500" y="1854200"/>
            <a:ext cx="25400" cy="2286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11" name="AutoShape 11"/>
          <p:cNvSpPr/>
          <p:nvPr/>
        </p:nvSpPr>
        <p:spPr>
          <a:xfrm>
            <a:off x="6311900" y="1803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局部放疗计划</a:t>
            </a:r>
            <a:endParaRPr lang="en-US" sz="18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6311900" y="2336800"/>
          <a:ext cx="5308600" cy="2489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1651000"/>
                <a:gridCol w="1752600"/>
              </a:tblGrid>
              <a:tr h="5207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靶区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部位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剂量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GTVp1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乳腺病灶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40Gy / 20次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GTVp2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髂骨病灶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40Gy / 20次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CTV1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左全乳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30Gy / 15次</a:t>
                      </a:r>
                      <a:endParaRPr lang="en-US" sz="18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AutoShape 13"/>
          <p:cNvSpPr/>
          <p:nvPr/>
        </p:nvSpPr>
        <p:spPr>
          <a:xfrm>
            <a:off x="6311900" y="5080000"/>
            <a:ext cx="53086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对髓外复发病灶行局部放疗，</a:t>
            </a:r>
            <a:endParaRPr lang="en-US" sz="1800"/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控制局部进展并为进一步全身治疗争取时间</a:t>
            </a:r>
            <a:endParaRPr lang="en-US" sz="18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64008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27" name="图片 26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762000" y="732002"/>
            <a:ext cx="10264142" cy="459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治疗历程（</a:t>
            </a:r>
            <a:r>
              <a:rPr lang="zh-CN" alt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</a:t>
            </a:r>
            <a:r>
              <a:rPr 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）·</a:t>
            </a: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疾病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再次</a:t>
            </a: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髓外复发-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乳腺</a:t>
            </a:r>
            <a:endParaRPr lang="zh-CN" altLang="en-US" sz="2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7" name="图片 26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pic>
        <p:nvPicPr>
          <p:cNvPr id="15" name="图片 14" descr="魏盼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32305"/>
            <a:ext cx="5031740" cy="4473575"/>
          </a:xfrm>
          <a:prstGeom prst="rect">
            <a:avLst/>
          </a:prstGeom>
        </p:spPr>
      </p:pic>
      <p:pic>
        <p:nvPicPr>
          <p:cNvPr id="16" name="图片 15" descr="魏盼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765" y="1932940"/>
            <a:ext cx="5377815" cy="447294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62000" y="3914775"/>
            <a:ext cx="719455" cy="50863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247765" y="4041775"/>
            <a:ext cx="719455" cy="50863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42920" y="3914775"/>
            <a:ext cx="719455" cy="50863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576945" y="4041775"/>
            <a:ext cx="719455" cy="50863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2246630" y="4550410"/>
            <a:ext cx="719455" cy="619760"/>
          </a:xfrm>
          <a:prstGeom prst="ellipse">
            <a:avLst/>
          </a:prstGeom>
          <a:noFill/>
          <a:ln w="53975" cap="flat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6967220" y="5878830"/>
            <a:ext cx="565150" cy="527050"/>
          </a:xfrm>
          <a:prstGeom prst="ellipse">
            <a:avLst/>
          </a:prstGeom>
          <a:noFill/>
          <a:ln w="53975" cap="flat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62000" y="736599"/>
            <a:ext cx="9915554" cy="18677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42745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髓外复发放疗后再次进展，累及皮下软组织与</a:t>
            </a:r>
            <a:r>
              <a:rPr lang="zh-CN" alt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腹股沟</a:t>
            </a:r>
            <a:r>
              <a:rPr lang="zh-CN" altLang="en-US" sz="18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淋巴结</a:t>
            </a:r>
            <a:endParaRPr lang="zh-CN" altLang="en-US" sz="1800" b="0" i="0" u="none" strike="noStrike">
              <a:solidFill>
                <a:srgbClr val="5F7A9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418715"/>
            <a:ext cx="25400" cy="254000"/>
          </a:xfrm>
          <a:prstGeom prst="roundRect">
            <a:avLst>
              <a:gd name="adj" fmla="val 0"/>
            </a:avLst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7" name="AutoShape 7"/>
          <p:cNvSpPr/>
          <p:nvPr/>
        </p:nvSpPr>
        <p:spPr>
          <a:xfrm>
            <a:off x="889000" y="2367915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临床发现与</a:t>
            </a:r>
            <a:r>
              <a:rPr lang="zh-CN" altLang="en-US" sz="18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检查</a:t>
            </a:r>
            <a:endParaRPr lang="zh-CN" altLang="en-US" sz="18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7715" y="2304415"/>
            <a:ext cx="4826000" cy="36106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2026.01：</a:t>
            </a:r>
            <a:r>
              <a:rPr lang="zh-CN" altLang="en-US" sz="18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右中腹和左侧</a:t>
            </a:r>
            <a:r>
              <a:rPr lang="zh-CN" altLang="en-US" sz="18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上臂出现皮下结节</a:t>
            </a:r>
            <a:r>
              <a:rPr lang="en-US" altLang="zh-CN" sz="18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8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腹股沟区新发肿块</a:t>
            </a:r>
            <a:r>
              <a:rPr lang="en-US" altLang="zh-CN" sz="18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8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伴左大腿活动困难</a:t>
            </a:r>
            <a:endParaRPr lang="en-US" sz="1800"/>
          </a:p>
          <a:p>
            <a:pPr marL="0" indent="0" algn="l">
              <a:lnSpc>
                <a:spcPct val="150000"/>
              </a:lnSpc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低剂量</a:t>
            </a:r>
            <a:r>
              <a:rPr lang="en-US" altLang="zh-CN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CT：</a:t>
            </a:r>
            <a:r>
              <a:rPr lang="zh-CN" altLang="en-US" sz="1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右侧腹皮下肿物</a:t>
            </a:r>
            <a:r>
              <a:rPr lang="en-US" altLang="zh-CN" sz="1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右侧腹股沟肿大淋巴结</a:t>
            </a:r>
            <a:r>
              <a:rPr lang="en-US" altLang="zh-CN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较前</a:t>
            </a:r>
            <a:r>
              <a:rPr lang="en-US" altLang="zh-CN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2025-09-16</a:t>
            </a:r>
            <a:r>
              <a:rPr lang="zh-CN" alt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</a:t>
            </a:r>
            <a:endParaRPr lang="zh-CN" altLang="en-US" sz="180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全身MRI：</a:t>
            </a:r>
            <a:r>
              <a:rPr lang="zh-CN" alt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</a:t>
            </a:r>
            <a:r>
              <a:rPr 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骨弥散受限，左股骨上段稍</a:t>
            </a:r>
            <a:r>
              <a:rPr 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前进展，右腹壁皮下及右侧腹股沟异常信号</a:t>
            </a:r>
            <a:endParaRPr lang="en-US" sz="180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B</a:t>
            </a:r>
            <a:r>
              <a:rPr lang="zh-CN" altLang="en-US" sz="18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超：</a:t>
            </a:r>
            <a:r>
              <a:rPr lang="zh-CN" altLang="en-US" sz="1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左侧上臂</a:t>
            </a:r>
            <a:r>
              <a:rPr lang="zh-CN" alt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皮下</a:t>
            </a:r>
            <a:r>
              <a:rPr lang="zh-CN" altLang="en-US" sz="180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异常回声</a:t>
            </a:r>
            <a:endParaRPr lang="zh-CN" altLang="en-US" sz="180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389889">
            <a:off x="3810000" y="40830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3E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121400" y="20828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实验室评估（2026.01）</a:t>
            </a:r>
            <a:endParaRPr lang="en-US" sz="1800"/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6121400" y="2616200"/>
          <a:ext cx="5807075" cy="35433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72005"/>
                <a:gridCol w="3735070"/>
              </a:tblGrid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结果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血</a:t>
                      </a: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MM全套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SPEP 3.6%，IgG-λ型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血清游离轻链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κ 7.07 / λ 15.1 mg/L，κ/λ 0.47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尿</a:t>
                      </a:r>
                      <a:r>
                        <a:rPr lang="en-US" altLang="zh-CN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MM</a:t>
                      </a:r>
                      <a:r>
                        <a:rPr lang="zh-CN" alt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全套</a:t>
                      </a:r>
                      <a:endParaRPr lang="zh-CN" alt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阴性</a:t>
                      </a:r>
                      <a:endParaRPr lang="zh-CN" alt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骨髓穿刺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浆细胞少见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MM免疫分型（BM）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1.2×10</a:t>
                      </a:r>
                      <a:r>
                        <a:rPr lang="en-US" sz="1600" b="0" i="0" u="none" strike="noStrike" baseline="30000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-3</a:t>
                      </a:r>
                      <a:endParaRPr lang="en-US" sz="1600" b="0" i="0" u="none" strike="noStrike" baseline="30000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7" name="图片 26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sp>
        <p:nvSpPr>
          <p:cNvPr id="13" name="AutoShape 4"/>
          <p:cNvSpPr/>
          <p:nvPr/>
        </p:nvSpPr>
        <p:spPr>
          <a:xfrm>
            <a:off x="939800" y="9652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治疗历程（</a:t>
            </a:r>
            <a:r>
              <a:rPr lang="zh-CN" alt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</a:t>
            </a:r>
            <a:r>
              <a:rPr 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）·</a:t>
            </a: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疾病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再次</a:t>
            </a: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髓外复发-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皮下及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腹股沟区</a:t>
            </a:r>
            <a:endParaRPr lang="zh-CN" altLang="en-US" sz="2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62000" y="736599"/>
            <a:ext cx="9915554" cy="18677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27" name="图片 26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sp>
        <p:nvSpPr>
          <p:cNvPr id="13" name="AutoShape 4"/>
          <p:cNvSpPr/>
          <p:nvPr/>
        </p:nvSpPr>
        <p:spPr>
          <a:xfrm>
            <a:off x="939800" y="9652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治疗历程（</a:t>
            </a:r>
            <a:r>
              <a:rPr lang="zh-CN" alt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</a:t>
            </a:r>
            <a:r>
              <a:rPr 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）·</a:t>
            </a: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疾病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再次</a:t>
            </a: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髓外复发-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皮下及</a:t>
            </a:r>
            <a:r>
              <a:rPr lang="zh-CN" alt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腹股沟区</a:t>
            </a:r>
            <a:endParaRPr lang="zh-CN" altLang="en-US" sz="2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图片 9" descr="魏盼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0595"/>
            <a:ext cx="4400550" cy="2853055"/>
          </a:xfrm>
          <a:prstGeom prst="rect">
            <a:avLst/>
          </a:prstGeom>
        </p:spPr>
      </p:pic>
      <p:pic>
        <p:nvPicPr>
          <p:cNvPr id="14" name="图片 13" descr="魏盼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390" y="2219960"/>
            <a:ext cx="4135755" cy="2853690"/>
          </a:xfrm>
          <a:prstGeom prst="rect">
            <a:avLst/>
          </a:prstGeom>
        </p:spPr>
      </p:pic>
      <p:pic>
        <p:nvPicPr>
          <p:cNvPr id="15" name="图片 14" descr="魏盼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280" y="2219960"/>
            <a:ext cx="4109720" cy="285305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525" y="3165475"/>
            <a:ext cx="742950" cy="527050"/>
          </a:xfrm>
          <a:prstGeom prst="rect">
            <a:avLst/>
          </a:prstGeom>
        </p:spPr>
      </p:pic>
      <p:sp>
        <p:nvSpPr>
          <p:cNvPr id="17" name="椭圆 16"/>
          <p:cNvSpPr/>
          <p:nvPr/>
        </p:nvSpPr>
        <p:spPr>
          <a:xfrm>
            <a:off x="3101340" y="3543935"/>
            <a:ext cx="565150" cy="527050"/>
          </a:xfrm>
          <a:prstGeom prst="ellipse">
            <a:avLst/>
          </a:prstGeom>
          <a:noFill/>
          <a:ln w="53975" cap="flat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5436870" y="2498090"/>
            <a:ext cx="565150" cy="527050"/>
          </a:xfrm>
          <a:prstGeom prst="ellipse">
            <a:avLst/>
          </a:prstGeom>
          <a:noFill/>
          <a:ln w="53975" cap="flat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9499600" y="2625090"/>
            <a:ext cx="565150" cy="527050"/>
          </a:xfrm>
          <a:prstGeom prst="ellipse">
            <a:avLst/>
          </a:prstGeom>
          <a:noFill/>
          <a:ln w="53975" cap="flat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762000" y="719828"/>
            <a:ext cx="9822167" cy="1677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病理与分子特征（2026.01 左上臂穿刺）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494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组织病理：浆细胞瘤（</a:t>
            </a:r>
            <a:r>
              <a:rPr lang="en-US" sz="16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母细胞样</a:t>
            </a:r>
            <a:r>
              <a:rPr lang="en-US" sz="16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），</a:t>
            </a:r>
            <a:r>
              <a:rPr lang="en-US" sz="1600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BCMA 高表达，为 BCMA 靶向治疗提供依据</a:t>
            </a:r>
            <a:endParaRPr lang="en-US" sz="1600" b="0" i="0" u="none" strike="noStrike">
              <a:solidFill>
                <a:srgbClr val="5F7A9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25400" cy="254000"/>
          </a:xfrm>
          <a:prstGeom prst="roundRect">
            <a:avLst>
              <a:gd name="adj" fmla="val 0"/>
            </a:avLst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7" name="AutoShape 7"/>
          <p:cNvSpPr/>
          <p:nvPr/>
        </p:nvSpPr>
        <p:spPr>
          <a:xfrm>
            <a:off x="889000" y="21082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免疫组化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762000" y="2565400"/>
          <a:ext cx="5080000" cy="34620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59000"/>
                <a:gridCol w="2921000"/>
              </a:tblGrid>
              <a:tr h="4953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标志物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结果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CD38 / CD138 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（+）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Kappa / Lambda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（-）/（+）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C-myc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（+）约70%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Ki-67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（+）约90%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BCMA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（+）93.8%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EBER 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（-）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9" name="Connector 9"/>
          <p:cNvCxnSpPr/>
          <p:nvPr/>
        </p:nvCxnSpPr>
        <p:spPr>
          <a:xfrm rot="5389889">
            <a:off x="3937000" y="3803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3E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096000" y="2032000"/>
            <a:ext cx="25400" cy="2286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1" name="AutoShape 11"/>
          <p:cNvSpPr/>
          <p:nvPr/>
        </p:nvSpPr>
        <p:spPr>
          <a:xfrm>
            <a:off x="6248400" y="19812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FISH 与基因突变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6248400" y="2514600"/>
          <a:ext cx="5181600" cy="26822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59000"/>
                <a:gridCol w="3022600"/>
              </a:tblGrid>
              <a:tr h="431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FISH 检测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结果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13q14 缺失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90%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Rb1 缺失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90%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1q21 扩增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90%，4</a:t>
                      </a:r>
                      <a:r>
                        <a:rPr lang="zh-CN" altLang="en-US" sz="1600" b="1" i="0" u="none" strike="noStrike">
                          <a:solidFill>
                            <a:srgbClr val="FF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个拷贝数</a:t>
                      </a:r>
                      <a:endParaRPr lang="zh-CN" altLang="en-US" sz="1600" b="1" i="0" u="none" strike="noStrike">
                        <a:solidFill>
                          <a:srgbClr val="FF000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FGFR3/IgH 重排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90%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P53 缺失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阴性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AutoShape 13"/>
          <p:cNvSpPr/>
          <p:nvPr/>
        </p:nvSpPr>
        <p:spPr>
          <a:xfrm>
            <a:off x="6248400" y="5257800"/>
            <a:ext cx="5181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基因突变：</a:t>
            </a: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NRAS 43.2%，IGLL5 80.9%</a:t>
            </a:r>
            <a:endParaRPr lang="en-US" sz="1600"/>
          </a:p>
          <a:p>
            <a:pPr marL="0" indent="0" algn="l">
              <a:lnSpc>
                <a:spcPct val="113000"/>
              </a:lnSpc>
            </a:pP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7" name="图片 26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762000" y="720151"/>
            <a:ext cx="10083788" cy="1644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治疗历程（</a:t>
            </a:r>
            <a:r>
              <a:rPr lang="zh-CN" alt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</a:t>
            </a:r>
            <a:r>
              <a:rPr lang="en-US" sz="2600" b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）·</a:t>
            </a: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埃纳妥单抗联合兆珂速方案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494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2026年1月起，针对难治复发伴髓外浸润 MM 启动双药联合治疗</a:t>
            </a:r>
            <a:endParaRPr lang="en-US" sz="1600" b="0" i="0" u="none" strike="noStrike">
              <a:solidFill>
                <a:srgbClr val="5F7A9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25400" cy="254000"/>
          </a:xfrm>
          <a:prstGeom prst="roundRect">
            <a:avLst>
              <a:gd name="adj" fmla="val 0"/>
            </a:avLst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7" name="AutoShape 7"/>
          <p:cNvSpPr/>
          <p:nvPr/>
        </p:nvSpPr>
        <p:spPr>
          <a:xfrm>
            <a:off x="889000" y="19812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方案给药经过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flipV="1">
            <a:off x="1524000" y="3174948"/>
            <a:ext cx="10553710" cy="5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1447800" y="3098800"/>
            <a:ext cx="152400" cy="152400"/>
          </a:xfrm>
          <a:prstGeom prst="ellipse">
            <a:avLst/>
          </a:prstGeom>
          <a:solidFill>
            <a:srgbClr val="1B3A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0" name="AutoShape 10"/>
          <p:cNvSpPr/>
          <p:nvPr/>
        </p:nvSpPr>
        <p:spPr>
          <a:xfrm>
            <a:off x="889000" y="26924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2026.01.30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4036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启动兆珂速</a:t>
            </a:r>
            <a:endParaRPr lang="en-US" sz="1600"/>
          </a:p>
          <a:p>
            <a:pPr marL="0" indent="0" algn="ctr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1800mg 每周1次</a:t>
            </a: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302000" y="3098800"/>
            <a:ext cx="152400" cy="152400"/>
          </a:xfrm>
          <a:prstGeom prst="ellipse">
            <a:avLst/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3" name="AutoShape 13"/>
          <p:cNvSpPr/>
          <p:nvPr/>
        </p:nvSpPr>
        <p:spPr>
          <a:xfrm>
            <a:off x="2708910" y="26924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2026.01.31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2581910" y="34036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启动埃纳妥单抗</a:t>
            </a:r>
            <a:endParaRPr lang="en-US" sz="1600"/>
          </a:p>
          <a:p>
            <a:pPr marL="0" indent="0" algn="ctr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76mg 每周1次</a:t>
            </a: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036185" y="3098800"/>
            <a:ext cx="152400" cy="152400"/>
          </a:xfrm>
          <a:prstGeom prst="ellipse">
            <a:avLst/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6" name="AutoShape 16"/>
          <p:cNvSpPr/>
          <p:nvPr/>
        </p:nvSpPr>
        <p:spPr>
          <a:xfrm>
            <a:off x="4477385" y="26924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2026.02.23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350385" y="3530600"/>
            <a:ext cx="189484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埃纳妥单抗 76mg</a:t>
            </a:r>
            <a:r>
              <a:rPr lang="en-US" sz="1600"/>
              <a:t>+</a:t>
            </a:r>
            <a:r>
              <a:rPr 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兆珂速1800mg</a:t>
            </a: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08000"/>
              </a:lnSpc>
              <a:defRPr/>
            </a:pP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044690" y="3098800"/>
            <a:ext cx="152400" cy="152400"/>
          </a:xfrm>
          <a:prstGeom prst="ellipse">
            <a:avLst/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9" name="AutoShape 19"/>
          <p:cNvSpPr/>
          <p:nvPr/>
        </p:nvSpPr>
        <p:spPr>
          <a:xfrm>
            <a:off x="6485890" y="26924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2026.03.28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358890" y="34036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埃纳妥76mg +</a:t>
            </a:r>
            <a:endParaRPr lang="en-US" sz="1600"/>
          </a:p>
          <a:p>
            <a:pPr marL="0" indent="0" algn="ctr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兆珂速1800mg</a:t>
            </a: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C2</a:t>
            </a: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4092">
            <a:off x="762004" y="418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3E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762000" y="4394200"/>
            <a:ext cx="25400" cy="2286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23" name="AutoShape 23"/>
          <p:cNvSpPr/>
          <p:nvPr/>
        </p:nvSpPr>
        <p:spPr>
          <a:xfrm>
            <a:off x="914400" y="4343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方案特点（双靶点联合）</a:t>
            </a:r>
            <a:endParaRPr lang="en-US" sz="18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14400" y="4851400"/>
            <a:ext cx="1041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8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埃纳妥单抗</a:t>
            </a: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BCMA×CD3 双特异性抗体　→　靶向 BCMA</a:t>
            </a:r>
            <a:endParaRPr lang="en-US" sz="1800"/>
          </a:p>
          <a:p>
            <a:pPr marL="0" indent="0" algn="l">
              <a:lnSpc>
                <a:spcPct val="121000"/>
              </a:lnSpc>
            </a:pPr>
            <a:r>
              <a:rPr lang="en-US" sz="18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兆珂速</a:t>
            </a: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达雷妥尤单抗（抗CD38单抗）　→　靶向 CD38</a:t>
            </a:r>
            <a:endParaRPr lang="en-US" sz="18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914400" y="5842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此后每月1次维持用药 · 本患者 BCMA 高表达（93.8%）为靶向治疗提供依据</a:t>
            </a:r>
            <a:endParaRPr lang="en-US" sz="18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10414000" y="64008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endParaRPr lang="en-US" sz="1800"/>
          </a:p>
        </p:txBody>
      </p:sp>
      <p:pic>
        <p:nvPicPr>
          <p:cNvPr id="28" name="图片 27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  <p:sp>
        <p:nvSpPr>
          <p:cNvPr id="26" name="下箭头标注 25"/>
          <p:cNvSpPr/>
          <p:nvPr/>
        </p:nvSpPr>
        <p:spPr>
          <a:xfrm>
            <a:off x="5463540" y="2084705"/>
            <a:ext cx="1524000" cy="793115"/>
          </a:xfrm>
          <a:prstGeom prst="downArrow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AutoShape 17"/>
          <p:cNvSpPr/>
          <p:nvPr/>
        </p:nvSpPr>
        <p:spPr>
          <a:xfrm>
            <a:off x="5459095" y="2105025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CMV</a:t>
            </a:r>
            <a:r>
              <a:rPr lang="zh-CN" altLang="en-US" sz="16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病毒感染</a:t>
            </a:r>
            <a:endParaRPr lang="zh-CN" altLang="en-US" sz="16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15"/>
          <p:cNvSpPr/>
          <p:nvPr/>
        </p:nvSpPr>
        <p:spPr>
          <a:xfrm>
            <a:off x="8917940" y="3088640"/>
            <a:ext cx="152400" cy="152400"/>
          </a:xfrm>
          <a:prstGeom prst="ellipse">
            <a:avLst/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31" name="AutoShape 16"/>
          <p:cNvSpPr/>
          <p:nvPr/>
        </p:nvSpPr>
        <p:spPr>
          <a:xfrm>
            <a:off x="8359140" y="268224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2026.04.06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17"/>
          <p:cNvSpPr/>
          <p:nvPr/>
        </p:nvSpPr>
        <p:spPr>
          <a:xfrm>
            <a:off x="8232140" y="3520440"/>
            <a:ext cx="189484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埃纳妥单抗 76mg</a:t>
            </a:r>
            <a:r>
              <a:rPr lang="en-US" sz="1600"/>
              <a:t>+</a:t>
            </a:r>
            <a:r>
              <a:rPr 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兆珂速1800mg</a:t>
            </a: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08000"/>
              </a:lnSpc>
              <a:defRPr/>
            </a:pP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下箭头标注 32"/>
          <p:cNvSpPr/>
          <p:nvPr/>
        </p:nvSpPr>
        <p:spPr>
          <a:xfrm>
            <a:off x="9259570" y="2005965"/>
            <a:ext cx="1524000" cy="793115"/>
          </a:xfrm>
          <a:prstGeom prst="downArrow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AutoShape 17"/>
          <p:cNvSpPr/>
          <p:nvPr/>
        </p:nvSpPr>
        <p:spPr>
          <a:xfrm>
            <a:off x="9220835" y="2026285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CMV</a:t>
            </a:r>
            <a:r>
              <a:rPr lang="zh-CN" altLang="en-US" sz="16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病毒感染</a:t>
            </a:r>
            <a:endParaRPr lang="zh-CN" altLang="en-US" sz="16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15"/>
          <p:cNvSpPr/>
          <p:nvPr/>
        </p:nvSpPr>
        <p:spPr>
          <a:xfrm>
            <a:off x="11033760" y="3095625"/>
            <a:ext cx="152400" cy="152400"/>
          </a:xfrm>
          <a:prstGeom prst="ellipse">
            <a:avLst/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38" name="AutoShape 16"/>
          <p:cNvSpPr/>
          <p:nvPr/>
        </p:nvSpPr>
        <p:spPr>
          <a:xfrm>
            <a:off x="10474960" y="2689225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2026.06.03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17"/>
          <p:cNvSpPr/>
          <p:nvPr/>
        </p:nvSpPr>
        <p:spPr>
          <a:xfrm>
            <a:off x="10347960" y="3527425"/>
            <a:ext cx="189484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埃纳妥单抗 76mg</a:t>
            </a:r>
            <a:r>
              <a:rPr lang="en-US" sz="1600"/>
              <a:t>+</a:t>
            </a:r>
            <a:r>
              <a:rPr lang="en-US" sz="160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兆珂速1800mg</a:t>
            </a: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08000"/>
              </a:lnSpc>
              <a:defRPr/>
            </a:pP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62000" y="736599"/>
            <a:ext cx="9959340" cy="698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近期评估 · 2026.06 住院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494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维持联合治疗期间入院评估</a:t>
            </a:r>
            <a:endParaRPr lang="en-US" sz="1600" b="0" i="0" u="none" strike="noStrike">
              <a:solidFill>
                <a:srgbClr val="5F7A9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981200"/>
            <a:ext cx="25400" cy="254000"/>
          </a:xfrm>
          <a:prstGeom prst="roundRect">
            <a:avLst>
              <a:gd name="adj" fmla="val 0"/>
            </a:avLst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7" name="AutoShape 7"/>
          <p:cNvSpPr/>
          <p:nvPr/>
        </p:nvSpPr>
        <p:spPr>
          <a:xfrm>
            <a:off x="889000" y="1930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入院检查（06-02/06-03）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762000" y="2336800"/>
          <a:ext cx="5080000" cy="30175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556000"/>
              </a:tblGrid>
              <a:tr h="406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结果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血常规</a:t>
                      </a:r>
                      <a:endParaRPr lang="en-US" sz="14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WBC 4.07×10⁹/L，Hb 74g/L，中性粒 2.52×10⁹/L，</a:t>
                      </a:r>
                      <a:r>
                        <a:rPr lang="zh-CN" altLang="en-US" sz="14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血小板</a:t>
                      </a:r>
                      <a:r>
                        <a:rPr lang="en-US" altLang="zh-CN" sz="14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83</a:t>
                      </a:r>
                      <a:r>
                        <a:rPr lang="en-US" sz="1400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×10⁹/L</a:t>
                      </a:r>
                      <a:endParaRPr lang="en-US" altLang="zh-CN" sz="14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CRP</a:t>
                      </a:r>
                      <a:endParaRPr lang="en-US" sz="14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15.69mg/L</a:t>
                      </a:r>
                      <a:endParaRPr lang="en-US" sz="14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生化</a:t>
                      </a:r>
                      <a:endParaRPr lang="en-US" sz="14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ALB 40.7g/L，肌酐 42μmol/L，球蛋白 28.7g/L，TP 69.4g/L</a:t>
                      </a:r>
                      <a:endParaRPr lang="en-US" sz="14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心肌标志物</a:t>
                      </a:r>
                      <a:endParaRPr lang="en-US" sz="14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肌钙蛋白T 3.55，BNP前体 21.5</a:t>
                      </a:r>
                      <a:endParaRPr lang="en-US" sz="14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凝血</a:t>
                      </a:r>
                      <a:endParaRPr lang="en-US" sz="14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纤维蛋白原 4.16g/L</a:t>
                      </a:r>
                      <a:endParaRPr lang="en-US" sz="14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9" name="Connector 9"/>
          <p:cNvCxnSpPr/>
          <p:nvPr/>
        </p:nvCxnSpPr>
        <p:spPr>
          <a:xfrm flipH="1">
            <a:off x="6083061" y="1651000"/>
            <a:ext cx="12939" cy="402087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3E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096000" y="1854200"/>
            <a:ext cx="25400" cy="2286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1" name="AutoShape 11"/>
          <p:cNvSpPr/>
          <p:nvPr/>
        </p:nvSpPr>
        <p:spPr>
          <a:xfrm>
            <a:off x="6248400" y="1803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免疫与病毒学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6248400" y="2336800"/>
          <a:ext cx="5181600" cy="27076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657600"/>
              </a:tblGrid>
              <a:tr h="406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结果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体液免疫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κ 163.00，λ 72.70</a:t>
                      </a:r>
                      <a:endParaRPr lang="en-US" sz="160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IgA&lt;0.07，IgG 2.39，IgM&lt;0.04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CMV-DNA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6.87×10</a:t>
                      </a:r>
                      <a:r>
                        <a:rPr lang="en-US" sz="1600" b="0" i="0" u="none" strike="noStrike" baseline="30000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（</a:t>
                      </a:r>
                      <a:r>
                        <a:rPr lang="en-US" sz="1600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缬更昔洛韦抗病毒治疗）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EBV-DNA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&lt;1×10</a:t>
                      </a:r>
                      <a:r>
                        <a:rPr lang="en-US" sz="1600" b="0" i="0" u="none" strike="noStrike" baseline="30000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600" b="0" i="0" u="none" strike="noStrike" baseline="30000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本次治疗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埃纳妥单抗 + 兆珂速 + 丙种球蛋白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3" name="Connector 13"/>
          <p:cNvCxnSpPr/>
          <p:nvPr/>
        </p:nvCxnSpPr>
        <p:spPr>
          <a:xfrm rot="-4092">
            <a:off x="762004" y="5827395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4" name="AutoShape 14"/>
          <p:cNvSpPr/>
          <p:nvPr/>
        </p:nvSpPr>
        <p:spPr>
          <a:xfrm>
            <a:off x="762000" y="581152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600" b="1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611124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MRI：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多骨弥散受限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较前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（2026-01-12）</a:t>
            </a:r>
            <a:r>
              <a:rPr lang="zh-CN" alt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好转</a:t>
            </a:r>
            <a:r>
              <a:rPr lang="en-US" altLang="zh-CN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6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右腹壁皮下及右侧腹股沟区淋巴结异常信号较前明显缩小</a:t>
            </a:r>
            <a:endParaRPr lang="zh-CN" altLang="en-US" sz="1600" b="1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8" name="图片 27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762000" y="720241"/>
            <a:ext cx="10008223" cy="1635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最新评估 · 2026.08 住院与检验报告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494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免疫固定电泳全阴性，M蛋白显著下降，疗效进一步加深</a:t>
            </a:r>
            <a:endParaRPr lang="en-US" sz="1600" b="0" i="0" u="none" strike="noStrike">
              <a:solidFill>
                <a:srgbClr val="5F7A9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981200"/>
            <a:ext cx="25400" cy="254000"/>
          </a:xfrm>
          <a:prstGeom prst="roundRect">
            <a:avLst>
              <a:gd name="adj" fmla="val 0"/>
            </a:avLst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7" name="AutoShape 7"/>
          <p:cNvSpPr/>
          <p:nvPr/>
        </p:nvSpPr>
        <p:spPr>
          <a:xfrm>
            <a:off x="889000" y="1930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入院检查（08-22）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762000" y="2387600"/>
          <a:ext cx="5080000" cy="31699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3429000"/>
              </a:tblGrid>
              <a:tr h="406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结果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血常规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CRP 4.36mg/L，WBC 6.27×10</a:t>
                      </a:r>
                      <a:r>
                        <a:rPr lang="en-US" sz="1600" b="0" i="0" u="none" strike="noStrike" baseline="30000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</a:t>
                      </a: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/L，Hb 110g/L，PLT 68×10</a:t>
                      </a:r>
                      <a:r>
                        <a:rPr lang="en-US" sz="1600" b="0" i="0" u="none" strike="noStrike" baseline="30000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</a:t>
                      </a: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/L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生化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肌酐 50μmol/L，钾 3.67mmol/L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心肌标志物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肌钙蛋白T 11.8，BNP &lt;5.00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心电图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窦性心律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本次治疗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埃纳妥76mg + 兆珂速1800mg + 护胃补钙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9" name="Connector 9"/>
          <p:cNvCxnSpPr/>
          <p:nvPr/>
        </p:nvCxnSpPr>
        <p:spPr>
          <a:xfrm rot="5388145">
            <a:off x="4254500" y="3486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3E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096000" y="1854200"/>
            <a:ext cx="25400" cy="2286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1" name="AutoShape 11"/>
          <p:cNvSpPr/>
          <p:nvPr/>
        </p:nvSpPr>
        <p:spPr>
          <a:xfrm>
            <a:off x="6248400" y="1803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检验报告（08-24 标本）</a:t>
            </a:r>
            <a:endParaRPr lang="en-US" sz="1600" b="1" i="0" u="none" strike="noStrike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6248400" y="2336800"/>
          <a:ext cx="5181600" cy="2590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327660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结果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免疫固定电泳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B3A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全阴性</a:t>
                      </a:r>
                      <a:endParaRPr lang="en-US" sz="1600" b="1" i="0" u="none" strike="noStrike">
                        <a:solidFill>
                          <a:srgbClr val="1B3A6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血清蛋白电泳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M蛋白 &lt;0.1%，A/G 2.27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血清游离轻链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1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2D2D2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κ 0.57 / λ 1.35，κ/λ 0.42</a:t>
                      </a:r>
                      <a:endParaRPr lang="en-US" sz="1600" b="0" i="0" u="none" strike="noStrike">
                        <a:solidFill>
                          <a:srgbClr val="2D2D2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3" name="Connector 13"/>
          <p:cNvCxnSpPr/>
          <p:nvPr/>
        </p:nvCxnSpPr>
        <p:spPr>
          <a:xfrm rot="-4092">
            <a:off x="762004" y="5911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4" name="AutoShape 14"/>
          <p:cNvSpPr/>
          <p:nvPr/>
        </p:nvSpPr>
        <p:spPr>
          <a:xfrm>
            <a:off x="762000" y="6397625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zh-CN" alt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zh-CN" altLang="en-US" sz="1600"/>
          </a:p>
        </p:txBody>
      </p:sp>
      <p:pic>
        <p:nvPicPr>
          <p:cNvPr id="28" name="图片 27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762000" y="720393"/>
            <a:ext cx="9880588" cy="16206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B3A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62000" y="939800"/>
            <a:ext cx="50800" cy="431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9652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600" b="1" i="0" u="none" strike="noStrike" dirty="0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病例</a:t>
            </a:r>
            <a:r>
              <a:rPr lang="en-US" sz="2600" b="1" i="0" u="none" strike="noStrike" dirty="0" err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5400" cy="228600"/>
          </a:xfrm>
          <a:prstGeom prst="roundRect">
            <a:avLst>
              <a:gd name="adj" fmla="val 0"/>
            </a:avLst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14400" y="16002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病例特点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14400" y="2143125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 dirty="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600" b="0" i="0" u="none" strike="noStrike" dirty="0" err="1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青年女性，IgG-λ型</a:t>
            </a:r>
            <a:r>
              <a:rPr lang="en-US" sz="1600" b="0" i="0" u="none" strike="noStrike" dirty="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MM，DS IIIA / ISS II / RISS II</a:t>
            </a:r>
            <a:endParaRPr lang="en-US" sz="1600" dirty="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高危因素：1q21扩增、FGFR3/</a:t>
            </a:r>
            <a:r>
              <a:rPr lang="en-US" sz="1600" b="0" i="0" u="none" strike="noStrike" dirty="0" err="1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IgH重排、母细胞样形态、</a:t>
            </a:r>
            <a:r>
              <a:rPr lang="zh-CN" altLang="en-US" sz="1600" b="0" i="0" u="none" strike="noStrike" dirty="0" err="1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多次</a:t>
            </a:r>
            <a:r>
              <a:rPr lang="en-US" sz="1600" b="0" i="0" u="none" strike="noStrike" dirty="0" err="1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髓外浸润</a:t>
            </a:r>
            <a:endParaRPr lang="en-US" sz="1600" b="0" i="0" u="none" strike="noStrike" dirty="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600" b="0" i="0" u="none" strike="noStrike" dirty="0" err="1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历经</a:t>
            </a:r>
            <a:r>
              <a:rPr lang="en-US" sz="1600" b="0" i="0" u="none" strike="noStrike" dirty="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0" i="0" u="none" strike="noStrike" dirty="0" err="1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VRD、自体移植、KD、BCMA</a:t>
            </a:r>
            <a:r>
              <a:rPr lang="en-US" sz="1600" b="0" i="0" u="none" strike="noStrike" dirty="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CAR-T、P、</a:t>
            </a:r>
            <a:r>
              <a:rPr lang="zh-CN" altLang="en-US" sz="1600" b="0" i="0" u="none" strike="noStrike" dirty="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放疗</a:t>
            </a:r>
            <a:r>
              <a:rPr lang="en-US" sz="1600" b="0" i="0" u="none" strike="noStrike" dirty="0" err="1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等多线治疗后复发难治</a:t>
            </a:r>
            <a:endParaRPr lang="en-US" sz="1600" b="0" i="0" u="none" strike="noStrike" dirty="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79778">
            <a:off x="4889500" y="2724169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3E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5969000" y="1651000"/>
            <a:ext cx="25400" cy="228600"/>
          </a:xfrm>
          <a:prstGeom prst="roundRect">
            <a:avLst>
              <a:gd name="adj" fmla="val 0"/>
            </a:avLst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121400" y="16002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治疗与疗效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994400" y="1823720"/>
            <a:ext cx="53086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2026年1月启用埃纳妥单抗联合兆珂速方案</a:t>
            </a:r>
            <a:endParaRPr lang="en-US" sz="16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2026.08 评估：免疫固定电泳全阴性，M蛋白 &lt;0.1%，sFLC κ/λ 0.42</a:t>
            </a: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CMV 再激活经规范化管理控制，方案整体可耐受</a:t>
            </a:r>
            <a:endParaRPr lang="en-US" sz="16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4092">
            <a:off x="762004" y="446024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3E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914400" y="43180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800"/>
          </a:p>
        </p:txBody>
      </p:sp>
      <p:sp>
        <p:nvSpPr>
          <p:cNvPr id="15" name="AutoShape 15"/>
          <p:cNvSpPr/>
          <p:nvPr/>
        </p:nvSpPr>
        <p:spPr>
          <a:xfrm>
            <a:off x="914400" y="4653280"/>
            <a:ext cx="10515600" cy="10725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800" b="1" i="0" u="none" strike="noStrike" dirty="0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埃纳妥单抗（BCMA×CD3双抗）联合兆珂速（抗CD38单抗）</a:t>
            </a:r>
            <a:endParaRPr lang="en-US" sz="1800" dirty="0"/>
          </a:p>
          <a:p>
            <a:pPr marL="0" indent="0" algn="l">
              <a:lnSpc>
                <a:spcPct val="121000"/>
              </a:lnSpc>
            </a:pPr>
            <a:endParaRPr lang="en-US" sz="1800" b="0" i="0" u="none" strike="noStrike" dirty="0" err="1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800" b="0" i="0" u="none" strike="noStrike" dirty="0" err="1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为多线治疗失败的复发难治</a:t>
            </a:r>
            <a:r>
              <a:rPr lang="en-US" sz="1800" b="0" i="0" u="none" strike="noStrike" dirty="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MM </a:t>
            </a:r>
            <a:r>
              <a:rPr lang="en-US" sz="1800" b="0" i="0" u="none" strike="noStrike" dirty="0" err="1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伴髓外浸润患者提供双靶点治疗策略</a:t>
            </a:r>
            <a:endParaRPr lang="en-US" sz="1800" b="0" i="0" u="none" strike="noStrike" dirty="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914400" y="5715000"/>
            <a:ext cx="1051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本病例 BCMA 高表达（93.8%），提示 BCMA 靶向治疗具有良好的应用潜力</a:t>
            </a:r>
            <a:endParaRPr lang="en-US" sz="1800" b="0" i="0" u="none" strike="noStrike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8" name="图片 27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/>
          <p:cNvSpPr/>
          <p:nvPr/>
        </p:nvSpPr>
        <p:spPr>
          <a:xfrm>
            <a:off x="545164" y="272181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514350" indent="-514350">
              <a:buFont typeface="Arial" panose="020B0604020202090204"/>
              <a:buAutoNum type="arabicPeriod"/>
            </a:pPr>
            <a:r>
              <a:rPr lang="zh-CN" altLang="en-US" sz="3200" dirty="0"/>
              <a:t>病例汇报</a:t>
            </a:r>
            <a:endParaRPr lang="en-US" altLang="zh-CN" sz="3200" dirty="0"/>
          </a:p>
          <a:p>
            <a:pPr marL="514350" indent="-514350">
              <a:buFont typeface="Arial" panose="020B0604020202090204"/>
              <a:buAutoNum type="arabicPeriod"/>
            </a:pPr>
            <a:endParaRPr lang="en-US" altLang="zh-CN" sz="3200" dirty="0"/>
          </a:p>
          <a:p>
            <a:pPr marL="514350" indent="-514350">
              <a:buFont typeface="Arial" panose="020B0604020202090204"/>
              <a:buAutoNum type="arabicPeriod"/>
            </a:pPr>
            <a:r>
              <a:rPr lang="zh-CN" altLang="en-US" sz="3200" b="1" dirty="0">
                <a:solidFill>
                  <a:srgbClr val="C00000"/>
                </a:solidFill>
              </a:rPr>
              <a:t>文献回顾</a:t>
            </a:r>
            <a:endParaRPr lang="en-US" altLang="zh-CN" sz="3200" b="1" dirty="0">
              <a:solidFill>
                <a:srgbClr val="C00000"/>
              </a:solidFill>
            </a:endParaRPr>
          </a:p>
          <a:p>
            <a:pPr marL="514350" indent="-514350">
              <a:buFont typeface="Arial" panose="020B0604020202090204"/>
              <a:buAutoNum type="arabicPeriod"/>
            </a:pPr>
            <a:endParaRPr lang="en-US" altLang="zh-CN" sz="3200" dirty="0"/>
          </a:p>
          <a:p>
            <a:pPr marL="514350" indent="-514350">
              <a:buFont typeface="Arial" panose="020B0604020202090204"/>
              <a:buAutoNum type="arabicPeriod"/>
            </a:pPr>
            <a:r>
              <a:rPr lang="zh-CN" altLang="en-US" sz="3200" dirty="0"/>
              <a:t>总结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4396" y="156220"/>
            <a:ext cx="11469299" cy="757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j-cs"/>
              </a:defRPr>
            </a:lvl1pPr>
          </a:lstStyle>
          <a:p>
            <a:r>
              <a:rPr lang="en-US" altLang="zh-CN" dirty="0"/>
              <a:t>MagnetisMM-3</a:t>
            </a:r>
            <a:r>
              <a:rPr lang="zh-CN" altLang="en-US" dirty="0"/>
              <a:t>研究美国亚组：</a:t>
            </a:r>
            <a:endParaRPr lang="en-US" altLang="zh-CN" dirty="0"/>
          </a:p>
          <a:p>
            <a:r>
              <a:rPr lang="zh-CN" altLang="en-US" dirty="0"/>
              <a:t>探讨了埃纳妥单抗获得持续缓解后，降低频率给药的疗效和安全性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99043" y="6548563"/>
            <a:ext cx="57080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Lesokhin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 AM, et al. Nat Med 2023;29:2259-2267. 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cs"/>
            </a:endParaRPr>
          </a:p>
        </p:txBody>
      </p:sp>
      <p:sp>
        <p:nvSpPr>
          <p:cNvPr id="7" name="Rectangle: Rounded Corners 3"/>
          <p:cNvSpPr/>
          <p:nvPr/>
        </p:nvSpPr>
        <p:spPr bwMode="gray">
          <a:xfrm>
            <a:off x="371357" y="2843043"/>
            <a:ext cx="11469298" cy="303197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1600" algn="ctr" rotWithShape="0">
              <a:schemeClr val="tx1">
                <a:alpha val="20000"/>
              </a:schemeClr>
            </a:outerShdw>
          </a:effectLst>
        </p:spPr>
        <p:txBody>
          <a:bodyPr vert="horz" wrap="none" lIns="45720" tIns="45720" rIns="45720" bIns="45720" numCol="1" rtlCol="0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9" name="Rectangle: Rounded Corners 3"/>
          <p:cNvSpPr/>
          <p:nvPr/>
        </p:nvSpPr>
        <p:spPr bwMode="gray">
          <a:xfrm>
            <a:off x="371357" y="1349828"/>
            <a:ext cx="11469298" cy="1401299"/>
          </a:xfrm>
          <a:prstGeom prst="roundRect">
            <a:avLst>
              <a:gd name="adj" fmla="val 697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1600" algn="ctr" rotWithShape="0">
              <a:schemeClr val="tx1">
                <a:alpha val="20000"/>
              </a:schemeClr>
            </a:outerShdw>
          </a:effectLst>
        </p:spPr>
        <p:txBody>
          <a:bodyPr vert="horz" wrap="none" lIns="45720" tIns="45720" rIns="45720" bIns="45720" numCol="1" rtlCol="0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371356" y="1393372"/>
            <a:ext cx="1644903" cy="43565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研究方法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48786" y="1842361"/>
            <a:ext cx="11469299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MagnetisMM-3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研究是一项正在进行的多中心、开放标签、单臂、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期研究，旨在研究埃纳妥单抗治疗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RRMM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的疗效和安全性。队列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共纳入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123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名对≥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种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IMiD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、 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PI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和≥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种抗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CD38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单抗难治且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BCMA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初治的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RRMM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患者，接受埃纳妥单抗治疗。主要终点为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BICR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评估的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ORR</a:t>
            </a:r>
            <a:r>
              <a:rPr kumimoji="0" lang="en-US" altLang="zh-CN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1,2</a:t>
            </a:r>
            <a:endParaRPr kumimoji="0" lang="en-US" altLang="zh-CN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ea"/>
              <a:sym typeface="+mn-lt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本次报告队列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美国亚组结果（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n=47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），数据截止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2025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日，中位随访时间为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+mn-lt"/>
              </a:rPr>
              <a:t>39.6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+mn-lt"/>
              </a:rPr>
              <a:t>个月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95% CI 38.7-41.5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个月）</a:t>
            </a:r>
            <a:r>
              <a:rPr kumimoji="0" lang="en-US" altLang="zh-CN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2</a:t>
            </a:r>
            <a:endParaRPr kumimoji="0" lang="zh-CN" altLang="en-US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ea"/>
              <a:sym typeface="+mn-lt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448786" y="3445167"/>
            <a:ext cx="1501804" cy="1948100"/>
            <a:chOff x="387928" y="2546167"/>
            <a:chExt cx="2844007" cy="1948100"/>
          </a:xfrm>
        </p:grpSpPr>
        <p:grpSp>
          <p:nvGrpSpPr>
            <p:cNvPr id="49" name="组合 48"/>
            <p:cNvGrpSpPr/>
            <p:nvPr/>
          </p:nvGrpSpPr>
          <p:grpSpPr>
            <a:xfrm>
              <a:off x="387936" y="2546167"/>
              <a:ext cx="2843999" cy="1948100"/>
              <a:chOff x="387935" y="2660716"/>
              <a:chExt cx="2843999" cy="1948100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387935" y="2752632"/>
                <a:ext cx="2843999" cy="18561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2126A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87935" y="2660716"/>
                <a:ext cx="2843999" cy="396716"/>
              </a:xfrm>
              <a:prstGeom prst="rect">
                <a:avLst/>
              </a:prstGeom>
              <a:solidFill>
                <a:srgbClr val="0301D9"/>
              </a:solidFill>
              <a:ln>
                <a:solidFill>
                  <a:srgbClr val="2126A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RRMM</a:t>
                </a: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患者</a:t>
                </a:r>
                <a:endPara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</p:grpSp>
        <p:sp>
          <p:nvSpPr>
            <p:cNvPr id="50" name="文本框 49"/>
            <p:cNvSpPr txBox="1"/>
            <p:nvPr/>
          </p:nvSpPr>
          <p:spPr>
            <a:xfrm>
              <a:off x="387928" y="3019009"/>
              <a:ext cx="2754172" cy="1258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145" marR="0" lvl="0" indent="-144145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对≥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种</a:t>
              </a:r>
              <a:r>
                <a:rPr kumimoji="0" lang="en-GB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PI</a:t>
              </a:r>
              <a:r>
                <a:rPr kumimoji="0" lang="zh-CN" alt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、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 ≥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种</a:t>
              </a:r>
              <a:r>
                <a:rPr kumimoji="0" lang="en-GB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IMiD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和≥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种抗</a:t>
              </a:r>
              <a:r>
                <a:rPr kumimoji="0" lang="en-GB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CD38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单克隆抗体难治的患者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endParaRPr>
            </a:p>
            <a:p>
              <a:pPr marL="144145" marR="0" lvl="0" indent="-144145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ECOG PS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≤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2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2265820" y="3421257"/>
            <a:ext cx="6236303" cy="775081"/>
            <a:chOff x="387936" y="2548965"/>
            <a:chExt cx="2855071" cy="1125395"/>
          </a:xfrm>
        </p:grpSpPr>
        <p:grpSp>
          <p:nvGrpSpPr>
            <p:cNvPr id="57" name="组合 56"/>
            <p:cNvGrpSpPr/>
            <p:nvPr/>
          </p:nvGrpSpPr>
          <p:grpSpPr>
            <a:xfrm>
              <a:off x="387936" y="2548965"/>
              <a:ext cx="2855071" cy="1125395"/>
              <a:chOff x="387935" y="2663514"/>
              <a:chExt cx="2855071" cy="1125395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387935" y="2831690"/>
                <a:ext cx="2855071" cy="9572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2126A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387935" y="2663514"/>
                <a:ext cx="2855071" cy="482353"/>
              </a:xfrm>
              <a:prstGeom prst="rect">
                <a:avLst/>
              </a:prstGeom>
              <a:solidFill>
                <a:srgbClr val="0301D9"/>
              </a:solidFill>
              <a:ln>
                <a:solidFill>
                  <a:srgbClr val="2126A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队列</a:t>
                </a:r>
                <a:r>
                  <a: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A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美国亚组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</p:grpSp>
        <p:sp>
          <p:nvSpPr>
            <p:cNvPr id="60" name="文本框 59"/>
            <p:cNvSpPr txBox="1"/>
            <p:nvPr/>
          </p:nvSpPr>
          <p:spPr>
            <a:xfrm>
              <a:off x="430508" y="3151742"/>
              <a:ext cx="2761348" cy="402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既往未接受过靶向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BCMA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疗法治疗的患者（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n=47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）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endParaRPr>
            </a:p>
          </p:txBody>
        </p:sp>
      </p:grpSp>
      <p:pic>
        <p:nvPicPr>
          <p:cNvPr id="63" name="object 4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15558" y="4539104"/>
            <a:ext cx="997104" cy="720440"/>
          </a:xfrm>
          <a:prstGeom prst="rect">
            <a:avLst/>
          </a:prstGeom>
        </p:spPr>
      </p:pic>
      <p:sp>
        <p:nvSpPr>
          <p:cNvPr id="64" name="object 61"/>
          <p:cNvSpPr txBox="1"/>
          <p:nvPr/>
        </p:nvSpPr>
        <p:spPr>
          <a:xfrm>
            <a:off x="2436240" y="4327787"/>
            <a:ext cx="71683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6845" algn="l"/>
              </a:tabLst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剂量递增期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6294D"/>
              </a:solidFill>
              <a:effectLst/>
              <a:uLnTx/>
              <a:uFillTx/>
              <a:latin typeface="微软雅黑" charset="-122"/>
              <a:ea typeface="微软雅黑" charset="-122"/>
              <a:cs typeface="+mn-ea"/>
              <a:sym typeface="+mn-lt"/>
            </a:endParaRPr>
          </a:p>
        </p:txBody>
      </p:sp>
      <p:sp>
        <p:nvSpPr>
          <p:cNvPr id="65" name="object 61"/>
          <p:cNvSpPr txBox="1"/>
          <p:nvPr/>
        </p:nvSpPr>
        <p:spPr>
          <a:xfrm>
            <a:off x="2337229" y="4654930"/>
            <a:ext cx="941859" cy="4887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lvl="0" indent="0" algn="l" defTabSz="914400" rtl="0" eaLnBrk="1" fontAlgn="auto" latinLnBrk="0" hangingPunct="1">
              <a:lnSpc>
                <a:spcPct val="111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6845" algn="l"/>
              </a:tabLst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第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1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周期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16294D"/>
              </a:solidFill>
              <a:effectLst/>
              <a:uLnTx/>
              <a:uFillTx/>
              <a:latin typeface="微软雅黑" charset="-122"/>
              <a:ea typeface="微软雅黑" charset="-122"/>
              <a:cs typeface="+mn-ea"/>
              <a:sym typeface="+mn-lt"/>
            </a:endParaRPr>
          </a:p>
          <a:p>
            <a:pPr marL="12065" marR="5080" lvl="0" indent="0" algn="ctr" defTabSz="914400" rtl="0" eaLnBrk="1" fontAlgn="auto" latinLnBrk="0" hangingPunct="1">
              <a:lnSpc>
                <a:spcPct val="111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6845" algn="l"/>
              </a:tabLst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第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1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天：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12</a:t>
            </a:r>
            <a:r>
              <a:rPr kumimoji="0" lang="en-GB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mg SC</a:t>
            </a:r>
            <a:endParaRPr kumimoji="0" lang="en-GB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6294D"/>
              </a:solidFill>
              <a:effectLst/>
              <a:uLnTx/>
              <a:uFillTx/>
              <a:latin typeface="微软雅黑" charset="-122"/>
              <a:ea typeface="微软雅黑" charset="-122"/>
              <a:cs typeface="+mn-ea"/>
              <a:sym typeface="+mn-lt"/>
            </a:endParaRPr>
          </a:p>
          <a:p>
            <a:pPr marL="12065" marR="5080" lvl="0" indent="0" algn="ctr" defTabSz="914400" rtl="0" eaLnBrk="1" fontAlgn="auto" latinLnBrk="0" hangingPunct="1">
              <a:lnSpc>
                <a:spcPct val="111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6845" algn="l"/>
              </a:tabLst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第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4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天：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32</a:t>
            </a:r>
            <a:r>
              <a:rPr kumimoji="0" lang="en-GB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mg SC</a:t>
            </a:r>
            <a:endParaRPr kumimoji="0" lang="en-GB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6294D"/>
              </a:solidFill>
              <a:effectLst/>
              <a:uLnTx/>
              <a:uFillTx/>
              <a:latin typeface="微软雅黑" charset="-122"/>
              <a:ea typeface="微软雅黑" charset="-122"/>
              <a:cs typeface="+mn-ea"/>
              <a:sym typeface="+mn-lt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3501326" y="4533958"/>
            <a:ext cx="969598" cy="720440"/>
            <a:chOff x="3257125" y="3145460"/>
            <a:chExt cx="924412" cy="720440"/>
          </a:xfrm>
        </p:grpSpPr>
        <p:pic>
          <p:nvPicPr>
            <p:cNvPr id="67" name="object 4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57125" y="3145460"/>
              <a:ext cx="924412" cy="720440"/>
            </a:xfrm>
            <a:prstGeom prst="rect">
              <a:avLst/>
            </a:prstGeom>
          </p:spPr>
        </p:pic>
        <p:sp>
          <p:nvSpPr>
            <p:cNvPr id="68" name="object 61"/>
            <p:cNvSpPr txBox="1"/>
            <p:nvPr/>
          </p:nvSpPr>
          <p:spPr>
            <a:xfrm>
              <a:off x="3291584" y="3437526"/>
              <a:ext cx="838558" cy="17145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065" marR="5080" lvl="0" indent="0" algn="ctr" defTabSz="914400" rtl="0" eaLnBrk="1" fontAlgn="auto" latinLnBrk="0" hangingPunct="1">
                <a:lnSpc>
                  <a:spcPct val="111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56845" algn="l"/>
                </a:tabLst>
                <a:defRPr/>
              </a:pPr>
              <a:r>
                <a:rPr kumimoji="0" lang="it-IT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76mg SC QW</a:t>
              </a:r>
              <a:endParaRPr kumimoji="0" lang="it-IT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5569254" y="4552545"/>
            <a:ext cx="1004338" cy="720440"/>
            <a:chOff x="5228681" y="3164047"/>
            <a:chExt cx="957533" cy="720440"/>
          </a:xfrm>
        </p:grpSpPr>
        <p:pic>
          <p:nvPicPr>
            <p:cNvPr id="70" name="object 4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35578" y="3164047"/>
              <a:ext cx="950636" cy="720440"/>
            </a:xfrm>
            <a:prstGeom prst="rect">
              <a:avLst/>
            </a:prstGeom>
          </p:spPr>
        </p:pic>
        <p:sp>
          <p:nvSpPr>
            <p:cNvPr id="71" name="object 61"/>
            <p:cNvSpPr txBox="1"/>
            <p:nvPr/>
          </p:nvSpPr>
          <p:spPr>
            <a:xfrm>
              <a:off x="5228681" y="3426061"/>
              <a:ext cx="950635" cy="17799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76mg SC Q2W</a:t>
              </a:r>
              <a:endParaRPr kumimoji="0" lang="en-GB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7480840" y="4565045"/>
            <a:ext cx="997104" cy="720440"/>
            <a:chOff x="7051180" y="3176547"/>
            <a:chExt cx="950636" cy="720440"/>
          </a:xfrm>
        </p:grpSpPr>
        <p:pic>
          <p:nvPicPr>
            <p:cNvPr id="73" name="object 4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051180" y="3176547"/>
              <a:ext cx="950636" cy="720440"/>
            </a:xfrm>
            <a:prstGeom prst="rect">
              <a:avLst/>
            </a:prstGeom>
          </p:spPr>
        </p:pic>
        <p:sp>
          <p:nvSpPr>
            <p:cNvPr id="74" name="object 61"/>
            <p:cNvSpPr txBox="1"/>
            <p:nvPr/>
          </p:nvSpPr>
          <p:spPr>
            <a:xfrm>
              <a:off x="7072700" y="3426733"/>
              <a:ext cx="907596" cy="17799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16294D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ea"/>
                  <a:sym typeface="+mn-lt"/>
                </a:rPr>
                <a:t>76mg SC Q4W</a:t>
              </a:r>
              <a:endParaRPr kumimoji="0" lang="en-GB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endParaRPr>
            </a:p>
          </p:txBody>
        </p:sp>
      </p:grpSp>
      <p:sp>
        <p:nvSpPr>
          <p:cNvPr id="75" name="文本框 74"/>
          <p:cNvSpPr txBox="1"/>
          <p:nvPr/>
        </p:nvSpPr>
        <p:spPr>
          <a:xfrm>
            <a:off x="4444974" y="4487573"/>
            <a:ext cx="1406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QW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≥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个周期，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≥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PR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且持续≥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2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573592" y="4566698"/>
            <a:ext cx="997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Q2W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≥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个周期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77" name="箭头: 右 76"/>
          <p:cNvSpPr/>
          <p:nvPr/>
        </p:nvSpPr>
        <p:spPr>
          <a:xfrm>
            <a:off x="3311540" y="4839550"/>
            <a:ext cx="190994" cy="210554"/>
          </a:xfrm>
          <a:prstGeom prst="rightArrow">
            <a:avLst/>
          </a:prstGeom>
          <a:solidFill>
            <a:srgbClr val="030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78" name="箭头: 右 77"/>
          <p:cNvSpPr/>
          <p:nvPr/>
        </p:nvSpPr>
        <p:spPr>
          <a:xfrm>
            <a:off x="4493497" y="4828944"/>
            <a:ext cx="1055943" cy="221160"/>
          </a:xfrm>
          <a:prstGeom prst="rightArrow">
            <a:avLst/>
          </a:prstGeom>
          <a:solidFill>
            <a:srgbClr val="030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79" name="箭头: 右 78"/>
          <p:cNvSpPr/>
          <p:nvPr/>
        </p:nvSpPr>
        <p:spPr>
          <a:xfrm>
            <a:off x="6613397" y="4828944"/>
            <a:ext cx="820404" cy="221160"/>
          </a:xfrm>
          <a:prstGeom prst="rightArrow">
            <a:avLst/>
          </a:prstGeom>
          <a:solidFill>
            <a:srgbClr val="030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9884641" y="3105788"/>
            <a:ext cx="1747451" cy="2533013"/>
          </a:xfrm>
          <a:prstGeom prst="roundRect">
            <a:avLst>
              <a:gd name="adj" fmla="val 6229"/>
            </a:avLst>
          </a:prstGeom>
          <a:solidFill>
            <a:srgbClr val="F4F4F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主要研究终点：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BICR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评估的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ORR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次要研究终点：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MRD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阴性率 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10</a:t>
            </a:r>
            <a:r>
              <a:rPr kumimoji="0" lang="en-US" altLang="zh-CN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-5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TTR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DOR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PFS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OS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安全性等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cs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8633645" y="3404999"/>
            <a:ext cx="1119474" cy="1898409"/>
          </a:xfrm>
          <a:prstGeom prst="roundRect">
            <a:avLst>
              <a:gd name="adj" fmla="val 13549"/>
            </a:avLst>
          </a:prstGeom>
          <a:solidFill>
            <a:srgbClr val="EEF6F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rPr>
              <a:t>治疗至出现疾病进展或不可耐受的毒性</a:t>
            </a:r>
            <a:endParaRPr kumimoji="0" lang="en-US" altLang="zh-CN" sz="1000" b="0" i="0" u="none" strike="noStrike" kern="1200" cap="none" spc="0" normalizeH="0" baseline="300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ea"/>
              <a:sym typeface="+mn-lt"/>
            </a:endParaRPr>
          </a:p>
        </p:txBody>
      </p:sp>
      <p:sp>
        <p:nvSpPr>
          <p:cNvPr id="82" name="object 61"/>
          <p:cNvSpPr txBox="1"/>
          <p:nvPr/>
        </p:nvSpPr>
        <p:spPr>
          <a:xfrm>
            <a:off x="5504091" y="4314644"/>
            <a:ext cx="82615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6845" algn="l"/>
              </a:tabLst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6294D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全剂量治疗期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6294D"/>
              </a:solidFill>
              <a:effectLst/>
              <a:uLnTx/>
              <a:uFillTx/>
              <a:latin typeface="微软雅黑" charset="-122"/>
              <a:ea typeface="微软雅黑" charset="-122"/>
              <a:cs typeface="+mn-ea"/>
              <a:sym typeface="+mn-lt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265819" y="4282067"/>
            <a:ext cx="1103985" cy="102134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black">
                    <a:lumMod val="50000"/>
                    <a:lumOff val="5000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3455972" y="4286568"/>
            <a:ext cx="5046151" cy="102134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solidFill>
                  <a:prstClr val="black">
                    <a:lumMod val="50000"/>
                    <a:lumOff val="5000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cxnSp>
        <p:nvCxnSpPr>
          <p:cNvPr id="85" name="直接箭头连接符 84"/>
          <p:cNvCxnSpPr/>
          <p:nvPr/>
        </p:nvCxnSpPr>
        <p:spPr>
          <a:xfrm>
            <a:off x="2016259" y="4430555"/>
            <a:ext cx="142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/>
          <p:nvPr/>
        </p:nvPicPr>
        <p:blipFill>
          <a:blip r:embed="rId2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8364" y="79653"/>
            <a:ext cx="11695271" cy="757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j-cs"/>
              </a:defRPr>
            </a:lvl1pPr>
          </a:lstStyle>
          <a:p>
            <a:r>
              <a:rPr lang="en-US" altLang="zh-CN" dirty="0"/>
              <a:t>MagnetisMM-3</a:t>
            </a:r>
            <a:r>
              <a:rPr lang="zh-CN" altLang="en-US" dirty="0"/>
              <a:t>研究美国亚组：</a:t>
            </a:r>
            <a:endParaRPr lang="en-US" altLang="zh-CN" dirty="0"/>
          </a:p>
          <a:p>
            <a:r>
              <a:rPr lang="zh-CN" altLang="en-US" dirty="0"/>
              <a:t>基线普遍预后不良，</a:t>
            </a:r>
            <a:r>
              <a:rPr lang="en-US" altLang="zh-CN" dirty="0"/>
              <a:t>47%</a:t>
            </a:r>
            <a:r>
              <a:rPr lang="zh-CN" altLang="en-US" dirty="0"/>
              <a:t>患者转为</a:t>
            </a:r>
            <a:r>
              <a:rPr lang="en-US" altLang="zh-CN" dirty="0"/>
              <a:t>Q2W</a:t>
            </a:r>
            <a:r>
              <a:rPr lang="zh-CN" altLang="en-US" dirty="0"/>
              <a:t>，</a:t>
            </a:r>
            <a:r>
              <a:rPr lang="en-US" altLang="zh-CN" dirty="0"/>
              <a:t>17%</a:t>
            </a:r>
            <a:r>
              <a:rPr lang="zh-CN" altLang="en-US" dirty="0"/>
              <a:t>进一步转为</a:t>
            </a:r>
            <a:r>
              <a:rPr lang="en-US" altLang="zh-CN" dirty="0"/>
              <a:t>Q4W</a:t>
            </a:r>
            <a:endParaRPr lang="en-US" altLang="zh-CN" dirty="0"/>
          </a:p>
        </p:txBody>
      </p:sp>
      <p:graphicFrame>
        <p:nvGraphicFramePr>
          <p:cNvPr id="3" name="Table 8"/>
          <p:cNvGraphicFramePr>
            <a:graphicFrameLocks noGrp="1"/>
          </p:cNvGraphicFramePr>
          <p:nvPr/>
        </p:nvGraphicFramePr>
        <p:xfrm>
          <a:off x="5915133" y="1398786"/>
          <a:ext cx="2746852" cy="4400721"/>
        </p:xfrm>
        <a:graphic>
          <a:graphicData uri="http://schemas.openxmlformats.org/drawingml/2006/table">
            <a:tbl>
              <a:tblPr firstRow="1" bandRow="1"/>
              <a:tblGrid>
                <a:gridCol w="1486852"/>
                <a:gridCol w="1260000"/>
              </a:tblGrid>
              <a:tr h="2089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algn="l"/>
                      <a:endParaRPr 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95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N=47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951"/>
                    </a:solidFill>
                  </a:tcPr>
                </a:tc>
              </a:tr>
              <a:tr h="2554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中位年龄，</a:t>
                      </a:r>
                      <a:r>
                        <a:rPr 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zh-CN" alt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岁</a:t>
                      </a:r>
                      <a:r>
                        <a:rPr 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zh-CN" alt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范围</a:t>
                      </a:r>
                      <a:r>
                        <a:rPr 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)*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68.0 (36.0-89.0)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625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男性，</a:t>
                      </a:r>
                      <a:r>
                        <a:rPr lang="en-US" altLang="zh-CN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 (%)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 (51.1)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62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algn="l"/>
                      <a:r>
                        <a:rPr lang="zh-CN" alt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种族</a:t>
                      </a:r>
                      <a:r>
                        <a:rPr lang="en-US" altLang="zh-CN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民族，</a:t>
                      </a:r>
                      <a:r>
                        <a:rPr 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 (%)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62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非裔美国人或黑人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 (17.0)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62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亚裔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 (6.4)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62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白人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34 (72.3)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62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未知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(2.1)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62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未报告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(2.1)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62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algn="l"/>
                      <a:r>
                        <a:rPr lang="en-US" altLang="zh-CN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ECOG PS</a:t>
                      </a:r>
                      <a:r>
                        <a:rPr lang="zh-CN" alt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 (%)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62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15 (31.9)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62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28 (59.6)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62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 (8.5)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62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algn="l"/>
                      <a:r>
                        <a:rPr lang="en-US" altLang="zh-CN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R-ISS</a:t>
                      </a:r>
                      <a:r>
                        <a:rPr lang="zh-CN" alt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疾病期，</a:t>
                      </a:r>
                      <a:r>
                        <a:rPr 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 (%)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62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Ⅰ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14 (29.8)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62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Ⅱ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24 (51.1)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62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Ⅲ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 (14.9)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未知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 (4.3)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34688" y="6269816"/>
            <a:ext cx="674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Ajay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Nooka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, et al. Efficacy and Safety of Less Frequent Dosing With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Elranatamab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 (ELRA) in Patients With Relapsed or Refractory Multiple Myeloma (RRMM): A US Subgroup Analysis from MagnetisMM-3. IMS 2025. Abstract PA-046.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graphicFrame>
        <p:nvGraphicFramePr>
          <p:cNvPr id="5" name="Table 8"/>
          <p:cNvGraphicFramePr>
            <a:graphicFrameLocks noGrp="1"/>
          </p:cNvGraphicFramePr>
          <p:nvPr/>
        </p:nvGraphicFramePr>
        <p:xfrm>
          <a:off x="8727878" y="1398786"/>
          <a:ext cx="3060000" cy="4541520"/>
        </p:xfrm>
        <a:graphic>
          <a:graphicData uri="http://schemas.openxmlformats.org/drawingml/2006/table">
            <a:tbl>
              <a:tblPr firstRow="1" bandRow="1"/>
              <a:tblGrid>
                <a:gridCol w="1800000"/>
                <a:gridCol w="1260000"/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algn="l"/>
                      <a:endParaRPr 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95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000" b="1" kern="1200" noProof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N=47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95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algn="l"/>
                      <a:r>
                        <a:rPr lang="zh-CN" alt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细胞遗传学风险，</a:t>
                      </a:r>
                      <a:r>
                        <a:rPr 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 (%)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标危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32 (68.1)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高危*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13 (27.7)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缺失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 (4.3)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algn="l"/>
                      <a:r>
                        <a:rPr lang="zh-CN" alt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髓外疾病（</a:t>
                      </a:r>
                      <a:r>
                        <a:rPr lang="en-US" altLang="zh-CN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BICR</a:t>
                      </a:r>
                      <a:r>
                        <a:rPr lang="zh-CN" alt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），</a:t>
                      </a:r>
                      <a:r>
                        <a:rPr lang="en-US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 (%)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是</a:t>
                      </a:r>
                      <a:r>
                        <a:rPr lang="en-US" altLang="zh-CN" sz="1000" baseline="30000" dirty="0">
                          <a:solidFill>
                            <a:schemeClr val="tx1"/>
                          </a:solidFill>
                          <a:latin typeface="+mn-ea"/>
                        </a:rPr>
                        <a:t>†</a:t>
                      </a:r>
                      <a:endParaRPr kumimoji="0" lang="en-US" sz="1000" b="0" i="0" u="none" strike="noStrike" kern="1200" cap="none" spc="0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15 (31.9)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否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32 (68.1)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algn="l"/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具有≥</a:t>
                      </a:r>
                      <a:r>
                        <a:rPr lang="en-US" altLang="zh-CN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个预后不良因素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</a:rPr>
                        <a:t>‡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32 (68.1)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charset="-122"/>
                          <a:ea typeface="微软雅黑" charset="-122"/>
                          <a:cs typeface="+mn-cs"/>
                        </a:rPr>
                        <a:t>既往治疗线数，中位数 </a:t>
                      </a:r>
                      <a:r>
                        <a:rPr lang="en-US" altLang="zh-CN" sz="1000" b="1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zh-CN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charset="-122"/>
                          <a:ea typeface="微软雅黑" charset="-122"/>
                          <a:cs typeface="+mn-cs"/>
                        </a:rPr>
                        <a:t>范围）</a:t>
                      </a:r>
                      <a:endParaRPr kumimoji="0" lang="en-US" altLang="zh-CN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5.0 (2.0-22.0)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charset="-122"/>
                          <a:ea typeface="微软雅黑" charset="-122"/>
                          <a:cs typeface="+mn-cs"/>
                        </a:rPr>
                        <a:t>既往干细胞移植治疗，</a:t>
                      </a: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charset="-122"/>
                          <a:ea typeface="微软雅黑" charset="-122"/>
                          <a:cs typeface="+mn-cs"/>
                        </a:rPr>
                        <a:t>n (%)</a:t>
                      </a:r>
                      <a:endParaRPr kumimoji="0" lang="en-US" altLang="zh-CN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35 (74.5)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charset="-122"/>
                          <a:ea typeface="微软雅黑" charset="-122"/>
                          <a:cs typeface="+mn-cs"/>
                        </a:rPr>
                        <a:t>暴露状态</a:t>
                      </a:r>
                      <a:endParaRPr kumimoji="0" lang="en-US" altLang="zh-CN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三重暴露</a:t>
                      </a:r>
                      <a:r>
                        <a:rPr lang="en-US" altLang="zh-CN" sz="1000" baseline="30000" dirty="0">
                          <a:solidFill>
                            <a:schemeClr val="tx1"/>
                          </a:solidFill>
                          <a:latin typeface="+mn-ea"/>
                        </a:rPr>
                        <a:t>§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47 (100)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五重暴露</a:t>
                      </a:r>
                      <a:r>
                        <a:rPr lang="en-US" altLang="zh-CN" sz="1000" baseline="30000" dirty="0">
                          <a:solidFill>
                            <a:schemeClr val="tx1"/>
                          </a:solidFill>
                          <a:latin typeface="+mn-ea"/>
                        </a:rPr>
                        <a:t>¶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37 (78.7)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charset="-122"/>
                          <a:ea typeface="微软雅黑" charset="-122"/>
                          <a:cs typeface="+mn-cs"/>
                        </a:rPr>
                        <a:t>难治状态</a:t>
                      </a:r>
                      <a:endParaRPr kumimoji="0" lang="en-US" altLang="zh-CN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三重难治</a:t>
                      </a:r>
                      <a:r>
                        <a:rPr lang="en-US" altLang="zh-CN" sz="1000" baseline="30000" dirty="0">
                          <a:solidFill>
                            <a:schemeClr val="tx1"/>
                          </a:solidFill>
                          <a:latin typeface="+mn-ea"/>
                        </a:rPr>
                        <a:t>§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44 (93.6)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五重难治</a:t>
                      </a:r>
                      <a:r>
                        <a:rPr lang="en-US" altLang="zh-CN" sz="1000" baseline="30000" dirty="0">
                          <a:solidFill>
                            <a:schemeClr val="tx1"/>
                          </a:solidFill>
                          <a:latin typeface="+mn-ea"/>
                        </a:rPr>
                        <a:t>¶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Pfizer Diatype Offic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22 (46.8)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charset="-122"/>
                          <a:ea typeface="微软雅黑" charset="-122"/>
                          <a:cs typeface="+mn-cs"/>
                        </a:rPr>
                        <a:t>最后一线治疗难治，</a:t>
                      </a:r>
                      <a:r>
                        <a:rPr kumimoji="0" lang="en-US" altLang="zh-CN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charset="-122"/>
                          <a:ea typeface="微软雅黑" charset="-122"/>
                          <a:cs typeface="+mn-cs"/>
                        </a:rPr>
                        <a:t>n (%)</a:t>
                      </a:r>
                      <a:endParaRPr kumimoji="0" lang="en-US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46 (97.9)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: Rounded Corners 9"/>
          <p:cNvSpPr/>
          <p:nvPr/>
        </p:nvSpPr>
        <p:spPr bwMode="gray">
          <a:xfrm>
            <a:off x="464821" y="1398786"/>
            <a:ext cx="5295390" cy="1692000"/>
          </a:xfrm>
          <a:prstGeom prst="roundRect">
            <a:avLst>
              <a:gd name="adj" fmla="val 6971"/>
            </a:avLst>
          </a:prstGeom>
          <a:solidFill>
            <a:srgbClr val="E0F5FF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80000" tIns="46800" rIns="180000" bIns="45715" numCol="1" rtlCol="0" anchor="t" anchorCtr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fizer Diatype Office"/>
              <a:ea typeface="微软雅黑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2465" y="150701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患者特征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8" name="Rectangle: Rounded Corners 9"/>
          <p:cNvSpPr/>
          <p:nvPr/>
        </p:nvSpPr>
        <p:spPr bwMode="gray">
          <a:xfrm>
            <a:off x="489169" y="3204840"/>
            <a:ext cx="5295390" cy="2520000"/>
          </a:xfrm>
          <a:prstGeom prst="roundRect">
            <a:avLst>
              <a:gd name="adj" fmla="val 6971"/>
            </a:avLst>
          </a:prstGeom>
          <a:solidFill>
            <a:srgbClr val="E0F5FF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80000" tIns="46800" rIns="180000" bIns="45715" numCol="1" rtlCol="0" anchor="t" anchorCtr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fizer Diatype Office"/>
              <a:ea typeface="微软雅黑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2465" y="32945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治疗特征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8414" y="1904560"/>
            <a:ext cx="5138455" cy="1107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93.6%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的患者三重耐药，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46.8%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的患者五重耐药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68.1%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伴有≥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个预后不良特征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31.9%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的患者伴有髓外病变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68414" y="3667501"/>
            <a:ext cx="5138455" cy="199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22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例（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47%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）患者从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QW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转为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Q2W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Q2W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给药的中位治疗持续时间为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11.1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个月（范围：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0.03-25.9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17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例完成≥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个周期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Q2W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给药的患者中，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例（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17%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）患者转为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Q4W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Q4W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给药的中位治疗持续时间为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15.0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个月（范围：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6.5-20.7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至数据截止日期，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例（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10.6%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）患者仍在接受治疗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4688" y="5889181"/>
            <a:ext cx="93183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*包含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t (4;14)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、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t(14;16) 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及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del (17p)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 染色体异常；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†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髓外疾病定义为存在任何浆细胞瘤（含髓外浆细胞瘤和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/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或伴软组织成分的髓旁浆细胞瘤）； 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‡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不良预后特征指满足以下至少一项：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ECOG PS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 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2 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分、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R-ISS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 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Ⅲ 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期、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BICR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确认基线存在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EMD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、高危细胞遗传学特征、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BMPC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比例≥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50%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；</a:t>
            </a:r>
            <a:r>
              <a:rPr kumimoji="0" lang="en-US" altLang="zh-CN" sz="700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 §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三重指≥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种蛋白酶体抑制剂、≥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种免疫调节药物及≥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种抗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CD38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抗体治疗； </a:t>
            </a:r>
            <a:r>
              <a:rPr kumimoji="0" lang="en-US" altLang="zh-CN" sz="700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¶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五重指≥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2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种蛋白酶体抑制剂、≥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2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种免疫调节药物及≥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种抗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CD38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抗体治疗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BICR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盲法独立中心审查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；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BMPC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：骨髓浆细胞；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ECOG PS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：美国东部肿瘤协作组体能状态评分；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EMD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：髓外疾病；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 Q2W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：每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2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周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1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次；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Q4W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：每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4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周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1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次；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QW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：每周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1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次；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R-ISS</a:t>
            </a: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：修订版多发性骨髓瘤国际分期系统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pic>
        <p:nvPicPr>
          <p:cNvPr id="14" name="图片 13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/>
          <p:cNvSpPr/>
          <p:nvPr/>
        </p:nvSpPr>
        <p:spPr bwMode="auto">
          <a:xfrm>
            <a:off x="5951964" y="1388533"/>
            <a:ext cx="5820935" cy="4428067"/>
          </a:xfrm>
          <a:prstGeom prst="roundRect">
            <a:avLst>
              <a:gd name="adj" fmla="val 60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1600" algn="ctr" rotWithShape="0">
              <a:schemeClr val="tx1">
                <a:alpha val="20000"/>
              </a:schemeClr>
            </a:outerShdw>
          </a:effectLst>
        </p:spPr>
        <p:txBody>
          <a:bodyPr vert="horz" wrap="none" lIns="45720" tIns="45720" rIns="45720" bIns="45720" numCol="1" rtlCol="0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6547908" y="1519404"/>
            <a:ext cx="4914900" cy="43565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主要终点：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BICR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评估的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ORR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*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8364" y="50813"/>
            <a:ext cx="11695271" cy="757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j-cs"/>
              </a:defRPr>
            </a:lvl1pPr>
          </a:lstStyle>
          <a:p>
            <a:r>
              <a:rPr lang="en-US" altLang="zh-CN" dirty="0"/>
              <a:t>MagnetisMM-3</a:t>
            </a:r>
            <a:r>
              <a:rPr lang="zh-CN" altLang="en-US" dirty="0"/>
              <a:t>研究美国亚组：</a:t>
            </a:r>
            <a:endParaRPr lang="en-US" altLang="zh-CN" dirty="0"/>
          </a:p>
          <a:p>
            <a:r>
              <a:rPr lang="zh-CN" altLang="en-US" dirty="0"/>
              <a:t>埃纳妥单抗治疗实现快速且深度的缓解：中位起效时间</a:t>
            </a:r>
            <a:r>
              <a:rPr lang="en-US" altLang="zh-CN" dirty="0"/>
              <a:t> 1.1</a:t>
            </a:r>
            <a:r>
              <a:rPr lang="zh-CN" altLang="en-US" dirty="0"/>
              <a:t>个月，</a:t>
            </a:r>
            <a:r>
              <a:rPr lang="en-US" altLang="zh-CN" dirty="0"/>
              <a:t>ORR 66%</a:t>
            </a:r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6866465" y="2108202"/>
            <a:ext cx="4603136" cy="3465203"/>
            <a:chOff x="6925733" y="1921933"/>
            <a:chExt cx="4603136" cy="3465203"/>
          </a:xfrm>
        </p:grpSpPr>
        <p:graphicFrame>
          <p:nvGraphicFramePr>
            <p:cNvPr id="3" name="图表 2"/>
            <p:cNvGraphicFramePr/>
            <p:nvPr/>
          </p:nvGraphicFramePr>
          <p:xfrm>
            <a:off x="6925733" y="1921933"/>
            <a:ext cx="4603136" cy="346520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5" name="左大括号 4"/>
            <p:cNvSpPr/>
            <p:nvPr/>
          </p:nvSpPr>
          <p:spPr>
            <a:xfrm flipH="1">
              <a:off x="9857741" y="2278944"/>
              <a:ext cx="137221" cy="259200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9994962" y="3392488"/>
              <a:ext cx="7270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charset="-122"/>
                  <a:cs typeface="+mn-cs"/>
                </a:rPr>
                <a:t>≥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charset="-122"/>
                  <a:cs typeface="+mn-cs"/>
                </a:rPr>
                <a:t>VGPR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charset="-122"/>
                  <a:cs typeface="+mn-cs"/>
                </a:rPr>
                <a:t>59.6%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endParaRPr>
            </a:p>
          </p:txBody>
        </p:sp>
        <p:sp>
          <p:nvSpPr>
            <p:cNvPr id="7" name="左大括号 6"/>
            <p:cNvSpPr/>
            <p:nvPr/>
          </p:nvSpPr>
          <p:spPr>
            <a:xfrm>
              <a:off x="8391955" y="2278944"/>
              <a:ext cx="134795" cy="183600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802408" y="2967335"/>
              <a:ext cx="6569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charset="-122"/>
                  <a:cs typeface="+mn-cs"/>
                </a:rPr>
                <a:t>≥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charset="-122"/>
                  <a:cs typeface="+mn-cs"/>
                </a:rPr>
                <a:t>CR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charset="-122"/>
                  <a:cs typeface="+mn-cs"/>
                </a:rPr>
                <a:t>42.6%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528106" y="1946550"/>
              <a:ext cx="13983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charset="-122"/>
                  <a:cs typeface="+mn-cs"/>
                </a:rPr>
                <a:t>ORR 66.0%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</a:endParaRPr>
            </a:p>
          </p:txBody>
        </p:sp>
      </p:grpSp>
      <p:sp>
        <p:nvSpPr>
          <p:cNvPr id="13" name="Rectangle: Rounded Corners 9"/>
          <p:cNvSpPr/>
          <p:nvPr/>
        </p:nvSpPr>
        <p:spPr bwMode="gray">
          <a:xfrm>
            <a:off x="419101" y="1548631"/>
            <a:ext cx="5295390" cy="3726855"/>
          </a:xfrm>
          <a:prstGeom prst="roundRect">
            <a:avLst>
              <a:gd name="adj" fmla="val 6971"/>
            </a:avLst>
          </a:prstGeom>
          <a:solidFill>
            <a:srgbClr val="E0F5FF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80000" tIns="46800" rIns="180000" bIns="45715" numCol="1" rtlCol="0" anchor="t" anchorCtr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fizer Diatype Office"/>
              <a:ea typeface="微软雅黑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2399" y="183296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结果：缓解速度和深度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8554" y="2688989"/>
            <a:ext cx="4826160" cy="1480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BICR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评估的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ORR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为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66.0%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95% CI 50.7-79.1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微软雅黑" charset="-122"/>
              <a:buChar char="−"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sCR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率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27.7%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；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CR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率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14.9%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中位起效时间为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1.1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（范围：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1.0-7.4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中位至≥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CR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时间为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4.76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（范围：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1.2-12.8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741792" y="5447214"/>
            <a:ext cx="31309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t-IT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MagnetisMM-3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队列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A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美国亚组（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N=47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</a:t>
            </a:r>
            <a:r>
              <a:rPr kumimoji="0" lang="it-IT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3186" y="6218734"/>
            <a:ext cx="674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Ajay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Nooka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, et al. Efficacy and Safety of Less Frequent Dosing With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Elranatamab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 (ELRA) in Patients With Relapsed or Refractory Multiple Myeloma (RRMM): A US Subgroup Analysis from MagnetisMM-3. IMS 2025. Abstract PA-046.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33186" y="5937848"/>
            <a:ext cx="92476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BICR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：盲法独立中心审查；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CI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：置信区间；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CR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：完全缓解；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ORR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：客观缓解率；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PR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：部分缓解；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sCR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，严格意义的完全缓解；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TTR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，起效时间；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VGPR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：非常好的部分缓解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ea"/>
              <a:sym typeface="+mn-lt"/>
            </a:endParaRPr>
          </a:p>
        </p:txBody>
      </p:sp>
      <p:pic>
        <p:nvPicPr>
          <p:cNvPr id="19" name="图片 18"/>
          <p:cNvPicPr/>
          <p:nvPr/>
        </p:nvPicPr>
        <p:blipFill>
          <a:blip r:embed="rId2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8364" y="105990"/>
            <a:ext cx="11695271" cy="757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j-cs"/>
              </a:defRPr>
            </a:lvl1pPr>
          </a:lstStyle>
          <a:p>
            <a:r>
              <a:rPr lang="en-US" altLang="zh-CN" dirty="0"/>
              <a:t>MagnetisMM-3</a:t>
            </a:r>
            <a:r>
              <a:rPr lang="zh-CN" altLang="en-US" dirty="0"/>
              <a:t>研究美国亚组：</a:t>
            </a:r>
            <a:endParaRPr lang="en-US" altLang="zh-CN" dirty="0"/>
          </a:p>
          <a:p>
            <a:r>
              <a:rPr lang="zh-CN" altLang="en-US" dirty="0"/>
              <a:t>埃纳妥单抗治疗实现持久的缓解，降低给药频率后仍可长期维持缓解</a:t>
            </a:r>
            <a:endParaRPr lang="zh-CN" altLang="en-US" dirty="0"/>
          </a:p>
        </p:txBody>
      </p:sp>
      <p:sp>
        <p:nvSpPr>
          <p:cNvPr id="6" name="Rectangle: Rounded Corners 9"/>
          <p:cNvSpPr/>
          <p:nvPr/>
        </p:nvSpPr>
        <p:spPr bwMode="gray">
          <a:xfrm>
            <a:off x="419100" y="1548631"/>
            <a:ext cx="5446615" cy="3726855"/>
          </a:xfrm>
          <a:prstGeom prst="roundRect">
            <a:avLst>
              <a:gd name="adj" fmla="val 6971"/>
            </a:avLst>
          </a:prstGeom>
          <a:solidFill>
            <a:srgbClr val="E0F5FF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80000" tIns="46800" rIns="180000" bIns="45715" numCol="1" rtlCol="0" anchor="t" anchorCtr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fizer Diatype Office"/>
              <a:ea typeface="微软雅黑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2399" y="183296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结果：缓解持续时间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407" y="2384310"/>
            <a:ext cx="5328000" cy="2271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中位缓解持续时间长达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40.8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95% CI 24.0-NE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）且数据仍未成熟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降低给药频率（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Q2W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或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Q4W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 仍能长期维持缓解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467995" marR="0" lvl="1" indent="-17970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微软雅黑" charset="-122"/>
              <a:buChar char="−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例转为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Q2W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的患者中，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例（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77.8%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）在转换后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≥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时仍维持缓解状态或缓解程度进一步改善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467995" marR="0" lvl="1" indent="-17970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微软雅黑" charset="-122"/>
              <a:buChar char="−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例转为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Q4W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的患者中，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7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例（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87.5%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）在转换后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≥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时仍维持缓解状态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1350" y="5932564"/>
            <a:ext cx="114692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CI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：置信区间；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DOR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：缓解持续时间；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NE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ea"/>
                <a:sym typeface="+mn-lt"/>
              </a:rPr>
              <a:t>：不可评估；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Q2W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：每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2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周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1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次；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Q4W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：每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4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周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1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次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1350" y="6174875"/>
            <a:ext cx="674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Ajay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Nooka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, et al. Efficacy and Safety of Less Frequent Dosing With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Elranatamab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 (ELRA) in Patients With Relapsed or Refractory Multiple Myeloma (RRMM): A US Subgroup Analysis from MagnetisMM-3. IMS 2025. Abstract PA-046.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017789" y="1388534"/>
            <a:ext cx="5755110" cy="4106334"/>
            <a:chOff x="6017789" y="1388534"/>
            <a:chExt cx="5755110" cy="4106334"/>
          </a:xfrm>
        </p:grpSpPr>
        <p:sp>
          <p:nvSpPr>
            <p:cNvPr id="4" name="矩形: 圆角 3"/>
            <p:cNvSpPr/>
            <p:nvPr/>
          </p:nvSpPr>
          <p:spPr bwMode="auto">
            <a:xfrm>
              <a:off x="6017789" y="1388534"/>
              <a:ext cx="5755110" cy="4106334"/>
            </a:xfrm>
            <a:prstGeom prst="roundRect">
              <a:avLst>
                <a:gd name="adj" fmla="val 601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01600" algn="ctr" rotWithShape="0">
                <a:schemeClr val="tx1">
                  <a:alpha val="20000"/>
                </a:schemeClr>
              </a:outerShdw>
            </a:effectLst>
          </p:spPr>
          <p:txBody>
            <a:bodyPr vert="horz" wrap="none" lIns="45720" tIns="45720" rIns="45720" bIns="45720" numCol="1" rtlCol="0" anchor="ctr" anchorCtr="0" compatLnSpc="1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6547908" y="1519404"/>
              <a:ext cx="4914900" cy="435654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charset="-122"/>
                  <a:cs typeface="+mn-ea"/>
                  <a:sym typeface="+mn-lt"/>
                </a:rPr>
                <a:t>缓解持续时间（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charset="-122"/>
                  <a:cs typeface="+mn-ea"/>
                  <a:sym typeface="+mn-lt"/>
                </a:rPr>
                <a:t>DOR</a:t>
              </a: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charset="-122"/>
                  <a:cs typeface="+mn-ea"/>
                  <a:sym typeface="+mn-lt"/>
                </a:rPr>
                <a:t>）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endParaRPr>
            </a:p>
          </p:txBody>
        </p:sp>
        <p:pic>
          <p:nvPicPr>
            <p:cNvPr id="3" name="图片 2" descr="图形用户界面, 图表&#10;&#10;AI 生成的内容可能不正确。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8" t="12641" r="2155" b="8231"/>
            <a:stretch>
              <a:fillRect/>
            </a:stretch>
          </p:blipFill>
          <p:spPr>
            <a:xfrm>
              <a:off x="6038850" y="2017634"/>
              <a:ext cx="5701242" cy="3257852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/>
          </p:nvGrpSpPr>
          <p:grpSpPr>
            <a:xfrm rot="16200000">
              <a:off x="6025789" y="3136779"/>
              <a:ext cx="641453" cy="238824"/>
              <a:chOff x="8499475" y="2540369"/>
              <a:chExt cx="506236" cy="238824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8499475" y="2540369"/>
                <a:ext cx="506236" cy="207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8536154" y="2548361"/>
                <a:ext cx="43288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概率</a:t>
                </a: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6697278" y="4174194"/>
              <a:ext cx="2908969" cy="246221"/>
              <a:chOff x="8493701" y="2502020"/>
              <a:chExt cx="512010" cy="246221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8499475" y="2540369"/>
                <a:ext cx="506236" cy="207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8493701" y="2502020"/>
                <a:ext cx="47384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中位</a:t>
                </a:r>
                <a:r>
                  <a:rPr kumimoji="0" lang="en-US" altLang="zh-CN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DOR 40.8</a:t>
                </a: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个月（</a:t>
                </a:r>
                <a:r>
                  <a:rPr kumimoji="0" lang="en-US" altLang="zh-CN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95% CI 24.0-NE</a:t>
                </a: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）</a:t>
                </a:r>
                <a:endPara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8946621" y="4663136"/>
              <a:ext cx="641453" cy="238824"/>
              <a:chOff x="8499475" y="2540369"/>
              <a:chExt cx="506236" cy="238824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8499475" y="2540369"/>
                <a:ext cx="506236" cy="207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8536154" y="2548361"/>
                <a:ext cx="43288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月</a:t>
                </a: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</p:grpSp>
      </p:grpSp>
      <p:pic>
        <p:nvPicPr>
          <p:cNvPr id="22" name="图片 21"/>
          <p:cNvPicPr/>
          <p:nvPr/>
        </p:nvPicPr>
        <p:blipFill>
          <a:blip r:embed="rId2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200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7601" y="71459"/>
            <a:ext cx="11513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MagnetisMM-3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研究的回顾性分析：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旨在探讨埃纳妥单抗治疗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RRMM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持续缓解超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个月，停止治疗后的疗效和安全性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5" name="矩形: 圆角 4"/>
          <p:cNvSpPr/>
          <p:nvPr/>
        </p:nvSpPr>
        <p:spPr bwMode="auto">
          <a:xfrm>
            <a:off x="360826" y="1172742"/>
            <a:ext cx="3798220" cy="2150621"/>
          </a:xfrm>
          <a:prstGeom prst="roundRect">
            <a:avLst>
              <a:gd name="adj" fmla="val 60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1600" algn="ctr" rotWithShape="0">
              <a:schemeClr val="tx1">
                <a:alpha val="20000"/>
              </a:schemeClr>
            </a:outerShdw>
          </a:effectLst>
        </p:spPr>
        <p:txBody>
          <a:bodyPr vert="horz" wrap="none" lIns="45720" tIns="45720" rIns="45720" bIns="45720" numCol="1" rtlCol="0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480568" y="1275876"/>
            <a:ext cx="2322216" cy="43565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研究背景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ea"/>
              <a:sym typeface="+mn-lt"/>
            </a:endParaRPr>
          </a:p>
        </p:txBody>
      </p:sp>
      <p:sp>
        <p:nvSpPr>
          <p:cNvPr id="7" name="矩形: 圆角 6"/>
          <p:cNvSpPr/>
          <p:nvPr/>
        </p:nvSpPr>
        <p:spPr bwMode="auto">
          <a:xfrm>
            <a:off x="360825" y="3368713"/>
            <a:ext cx="3798221" cy="2068586"/>
          </a:xfrm>
          <a:prstGeom prst="roundRect">
            <a:avLst>
              <a:gd name="adj" fmla="val 60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1600" algn="ctr" rotWithShape="0">
              <a:schemeClr val="tx1">
                <a:alpha val="20000"/>
              </a:schemeClr>
            </a:outerShdw>
          </a:effectLst>
        </p:spPr>
        <p:txBody>
          <a:bodyPr vert="horz" wrap="none" lIns="45720" tIns="45720" rIns="45720" bIns="45720" numCol="1" rtlCol="0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480568" y="3476014"/>
            <a:ext cx="2322216" cy="43565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研究目的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ea"/>
              <a:sym typeface="+mn-lt"/>
            </a:endParaRPr>
          </a:p>
        </p:txBody>
      </p:sp>
      <p:sp>
        <p:nvSpPr>
          <p:cNvPr id="9" name="矩形: 圆角 8"/>
          <p:cNvSpPr/>
          <p:nvPr/>
        </p:nvSpPr>
        <p:spPr bwMode="auto">
          <a:xfrm>
            <a:off x="4278788" y="1172742"/>
            <a:ext cx="7573999" cy="4264558"/>
          </a:xfrm>
          <a:prstGeom prst="roundRect">
            <a:avLst>
              <a:gd name="adj" fmla="val 60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1600" algn="ctr" rotWithShape="0">
              <a:schemeClr val="tx1">
                <a:alpha val="20000"/>
              </a:schemeClr>
            </a:outerShdw>
          </a:effectLst>
        </p:spPr>
        <p:txBody>
          <a:bodyPr vert="horz" wrap="none" lIns="45720" tIns="45720" rIns="45720" bIns="45720" numCol="1" rtlCol="0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4468709" y="1271062"/>
            <a:ext cx="2322216" cy="43565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+mn-lt"/>
              </a:rPr>
              <a:t>研究方法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9650" y="1765369"/>
            <a:ext cx="3631073" cy="1363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MagnetisMM-3 (NCT04649359)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是一项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多中心、开放标签、单臂、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Ⅱ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期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临床研究，旨在评估埃纳妥单抗在既往未接受或接受过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BCMA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靶向治疗的复发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难治性多发性骨髓瘤患者中的疗效和安全性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9651" y="4104085"/>
            <a:ext cx="3631072" cy="110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旨在通过对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MagnetisMM-3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进行事后分析，研究接受埃纳妥单抗治疗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缓解维持超过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个月后长期中断或永久停止使用的患者的治疗结果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78789" y="1713313"/>
            <a:ext cx="7552386" cy="3634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179705" indent="-179705">
              <a:lnSpc>
                <a:spcPct val="120000"/>
              </a:lnSpc>
              <a:spcAft>
                <a:spcPts val="600"/>
              </a:spcAft>
              <a:buFont typeface="Arial" panose="020B0604020202090204" pitchFamily="34" charset="0"/>
              <a:buChar char="•"/>
              <a:defRPr sz="1600"/>
            </a:lvl1pPr>
          </a:lstStyle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MagnetisMM-3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研究评估了埃纳妥单抗单药治疗在复发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难治性多发性骨髓瘤患者中的疗效和安全性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主要终点为由盲态独立评审委员会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(BICR)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根据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IMWG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标准评估的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ORR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安全性评估截止至新抗癌治疗启动、末次给药后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90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天或研究结束（以最早发生者为准）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本事后分析纳入了在整个研究期间任意时间点均未接受连续超过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个月的治疗（长期中断或永久停用埃纳妥单抗），但仍在接受疗效评估（未开始新的抗癌治疗）的患者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为确保充分随访并获取所有潜在的疾病进展（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PD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）事件，无进展生存期（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PFS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）通过计算机算法推导得出：若患者任一参数显示明确的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PD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（即，对于可通过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SPEP/UPEP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测量疾病的患者，由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FLC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评估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PD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），则判定出现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PD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微软雅黑" charset="-122"/>
              <a:buChar char="−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对于疾病可进行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SPEP/UPEP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评估且未出现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PD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的患者，末次有效评估以可测量参数作为依据，除非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FLC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检测于末次可测量评估后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&gt;28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天进行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数据截止日期为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2025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日，约为最后一名患者首次给药后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45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60825" y="6256784"/>
            <a:ext cx="87237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Lesokhin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 AM et al. Prolonged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Elranatamab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 Treatment Interruption in Patients With Relapsed or Refractory Multiple Myeloma is Feasible: A Retrospective Analysis From MagnetisMM-3. Poster presented at ASH 2025 (Abstract 2269).  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60825" y="5888340"/>
            <a:ext cx="9006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BCMA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B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细胞成熟抗原；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BICR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：盲态独立中心评审；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FLC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：游离轻链；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IMWG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：国际骨髓瘤工作组；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ORR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：客观缓解率；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PD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：疾病进展；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SPEP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：血清蛋白电泳；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UPEP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：尿蛋白电泳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pic>
        <p:nvPicPr>
          <p:cNvPr id="3" name="图片 2"/>
          <p:cNvPicPr/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28934" y="0"/>
            <a:ext cx="863065" cy="9024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0554" y="214528"/>
            <a:ext cx="117715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MagnetisMM-3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研究的回顾性分析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停药或中断后，大多数患者仍能维持深度缓解，最佳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ORR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率高达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100%</a:t>
            </a:r>
            <a:r>
              <a:rPr lang="zh-CN" altLang="en-US" sz="2000" b="1" dirty="0">
                <a:solidFill>
                  <a:srgbClr val="002060"/>
                </a:solidFill>
                <a:latin typeface="微软雅黑" charset="-122"/>
                <a:ea typeface="微软雅黑" charset="-122"/>
              </a:rPr>
              <a:t>；且恢复用药后仍然有效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5" name="Rectangle: Rounded Corners 9"/>
          <p:cNvSpPr/>
          <p:nvPr/>
        </p:nvSpPr>
        <p:spPr bwMode="gray">
          <a:xfrm>
            <a:off x="485797" y="1140632"/>
            <a:ext cx="5809089" cy="4428895"/>
          </a:xfrm>
          <a:prstGeom prst="roundRect">
            <a:avLst>
              <a:gd name="adj" fmla="val 6971"/>
            </a:avLst>
          </a:prstGeom>
          <a:solidFill>
            <a:srgbClr val="E0F5FF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80000" tIns="46800" rIns="180000" bIns="45715" numCol="1" rtlCol="0" anchor="t" anchorCtr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fizer Diatype Office"/>
              <a:ea typeface="微软雅黑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1289" y="301228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结果：缓解率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5309" y="3391552"/>
            <a:ext cx="5500691" cy="2187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中断或停药时，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ORR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86.7%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，其中≥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CR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率达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43.3%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任何时间点最佳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ORR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为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100%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，其中≥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CR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率高达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60.0%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名患者分别在剂量中断约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个月后重新启动埃纳妥单抗：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360045" marR="0" lvl="1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微软雅黑" charset="-122"/>
              <a:buChar char="−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名患者在剂量中断时已达到≥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CR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，数据截止时仍维持≥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CR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360045" marR="0" lvl="1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微软雅黑" charset="-122"/>
              <a:buChar char="−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名患者出现早期复发迹象（血清和尿免疫固定电泳阳性），恢复治疗后重新转阴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4411" y="5693435"/>
            <a:ext cx="6226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截至数据截止日期，中位治疗持续时间为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13.0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（范围： 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1.2-39.1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）个月。中位停药持续时间为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17.9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（范围：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6.5-36.3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）个月；中位总体随访时间和中断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/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停药后的随访时间分别为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45.2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（范围：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9.9–49.9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）个月和 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21.8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（范围：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7.5–46.9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）个月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BOR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：最佳缓解率；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CI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：置信区间；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CR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：完全缓解；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MR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：微小缓解；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ORR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：客观缓解率；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PR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：部分缓解；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sCR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：严格意义的完全缓解；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SD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：疾病稳定；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VGPR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：非常好的部分缓解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6707520" y="1113861"/>
            <a:ext cx="4583306" cy="2467540"/>
            <a:chOff x="5406827" y="1519251"/>
            <a:chExt cx="6445959" cy="4066355"/>
          </a:xfrm>
        </p:grpSpPr>
        <p:sp>
          <p:nvSpPr>
            <p:cNvPr id="10" name="矩形: 圆角 9"/>
            <p:cNvSpPr/>
            <p:nvPr/>
          </p:nvSpPr>
          <p:spPr bwMode="auto">
            <a:xfrm>
              <a:off x="5406827" y="1519251"/>
              <a:ext cx="6445959" cy="4060483"/>
            </a:xfrm>
            <a:prstGeom prst="roundRect">
              <a:avLst>
                <a:gd name="adj" fmla="val 601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01600" algn="ctr" rotWithShape="0">
                <a:schemeClr val="tx1">
                  <a:alpha val="20000"/>
                </a:schemeClr>
              </a:outerShdw>
            </a:effectLst>
          </p:spPr>
          <p:txBody>
            <a:bodyPr vert="horz" wrap="none" lIns="45720" tIns="45720" rIns="45720" bIns="45720" numCol="1" rtlCol="0" anchor="ctr" anchorCtr="0" compatLnSpc="1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486455" y="1888583"/>
              <a:ext cx="6286702" cy="3697023"/>
              <a:chOff x="5486455" y="1888583"/>
              <a:chExt cx="6286702" cy="3697023"/>
            </a:xfrm>
          </p:grpSpPr>
          <p:pic>
            <p:nvPicPr>
              <p:cNvPr id="8" name="Picture 8" descr="A graph of different colored squares&#10;&#10;AI-generated content may be incorrect.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86455" y="1888583"/>
                <a:ext cx="6286702" cy="3697023"/>
              </a:xfrm>
              <a:prstGeom prst="rect">
                <a:avLst/>
              </a:prstGeom>
            </p:spPr>
          </p:pic>
          <p:sp>
            <p:nvSpPr>
              <p:cNvPr id="12" name="文本框 11"/>
              <p:cNvSpPr txBox="1"/>
              <p:nvPr/>
            </p:nvSpPr>
            <p:spPr>
              <a:xfrm>
                <a:off x="6204857" y="5269468"/>
                <a:ext cx="2884714" cy="20604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治疗中断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/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停药时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8629806" y="5269468"/>
                <a:ext cx="2884714" cy="20604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任何时间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 rot="16200000">
                <a:off x="4306926" y="3813951"/>
                <a:ext cx="2787809" cy="31760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患者，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%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7926496" y="1563368"/>
              <a:ext cx="2252660" cy="456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9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最佳缓解率（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9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BOR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9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）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70554" y="6519446"/>
            <a:ext cx="6336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Lesokhin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 AM et al. Prolonged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Elranatamab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 Treatment Interruption in Patients With Relapsed or Refractory Multiple Myeloma is Feasible: A Retrospective Analysis From MagnetisMM-3. Poster presented at ASH 2025 (Abstract 2269).  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grpSp>
        <p:nvGrpSpPr>
          <p:cNvPr id="178" name="组合 177"/>
          <p:cNvGrpSpPr/>
          <p:nvPr/>
        </p:nvGrpSpPr>
        <p:grpSpPr>
          <a:xfrm>
            <a:off x="6719074" y="3646086"/>
            <a:ext cx="4583305" cy="2936223"/>
            <a:chOff x="5343524" y="1382485"/>
            <a:chExt cx="6509262" cy="4494439"/>
          </a:xfrm>
        </p:grpSpPr>
        <p:sp>
          <p:nvSpPr>
            <p:cNvPr id="17" name="矩形: 圆角 16"/>
            <p:cNvSpPr/>
            <p:nvPr/>
          </p:nvSpPr>
          <p:spPr bwMode="auto">
            <a:xfrm>
              <a:off x="5343524" y="1382485"/>
              <a:ext cx="6509262" cy="4494439"/>
            </a:xfrm>
            <a:prstGeom prst="roundRect">
              <a:avLst>
                <a:gd name="adj" fmla="val 601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01600" algn="ctr" rotWithShape="0">
                <a:schemeClr val="tx1">
                  <a:alpha val="20000"/>
                </a:schemeClr>
              </a:outerShdw>
            </a:effectLst>
          </p:spPr>
          <p:txBody>
            <a:bodyPr vert="horz" wrap="none" lIns="45720" tIns="45720" rIns="45720" bIns="45720" numCol="1" rtlCol="0" anchor="ctr" anchorCtr="0" compatLnSpc="1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  <p:grpSp>
          <p:nvGrpSpPr>
            <p:cNvPr id="18" name="Group 3"/>
            <p:cNvGrpSpPr/>
            <p:nvPr/>
          </p:nvGrpSpPr>
          <p:grpSpPr>
            <a:xfrm>
              <a:off x="5437223" y="1999369"/>
              <a:ext cx="6350994" cy="3766768"/>
              <a:chOff x="612770" y="1987733"/>
              <a:chExt cx="6350994" cy="3766768"/>
            </a:xfrm>
          </p:grpSpPr>
          <p:sp>
            <p:nvSpPr>
              <p:cNvPr id="19" name="Freeform: Shape 8"/>
              <p:cNvSpPr/>
              <p:nvPr/>
            </p:nvSpPr>
            <p:spPr>
              <a:xfrm>
                <a:off x="758901" y="5313097"/>
                <a:ext cx="6144468" cy="20592"/>
              </a:xfrm>
              <a:custGeom>
                <a:avLst/>
                <a:gdLst>
                  <a:gd name="connsiteX0" fmla="*/ 0 w 3782348"/>
                  <a:gd name="connsiteY0" fmla="*/ 0 h 12676"/>
                  <a:gd name="connsiteX1" fmla="*/ 3782348 w 3782348"/>
                  <a:gd name="connsiteY1" fmla="*/ 0 h 12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82348" h="12676">
                    <a:moveTo>
                      <a:pt x="0" y="0"/>
                    </a:moveTo>
                    <a:lnTo>
                      <a:pt x="3782348" y="0"/>
                    </a:lnTo>
                  </a:path>
                </a:pathLst>
              </a:custGeom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20" name="Freeform: Shape 9"/>
              <p:cNvSpPr/>
              <p:nvPr/>
            </p:nvSpPr>
            <p:spPr>
              <a:xfrm>
                <a:off x="929825" y="5313097"/>
                <a:ext cx="20592" cy="85256"/>
              </a:xfrm>
              <a:custGeom>
                <a:avLst/>
                <a:gdLst>
                  <a:gd name="connsiteX0" fmla="*/ 0 w 12676"/>
                  <a:gd name="connsiteY0" fmla="*/ 0 h 52481"/>
                  <a:gd name="connsiteX1" fmla="*/ 0 w 12676"/>
                  <a:gd name="connsiteY1" fmla="*/ 52482 h 52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76" h="52481">
                    <a:moveTo>
                      <a:pt x="0" y="0"/>
                    </a:moveTo>
                    <a:lnTo>
                      <a:pt x="0" y="52482"/>
                    </a:lnTo>
                  </a:path>
                </a:pathLst>
              </a:custGeom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21" name="Freeform: Shape 10"/>
              <p:cNvSpPr/>
              <p:nvPr/>
            </p:nvSpPr>
            <p:spPr>
              <a:xfrm>
                <a:off x="1820698" y="5313097"/>
                <a:ext cx="20592" cy="85256"/>
              </a:xfrm>
              <a:custGeom>
                <a:avLst/>
                <a:gdLst>
                  <a:gd name="connsiteX0" fmla="*/ 0 w 12676"/>
                  <a:gd name="connsiteY0" fmla="*/ 0 h 52481"/>
                  <a:gd name="connsiteX1" fmla="*/ 0 w 12676"/>
                  <a:gd name="connsiteY1" fmla="*/ 52482 h 52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76" h="52481">
                    <a:moveTo>
                      <a:pt x="0" y="0"/>
                    </a:moveTo>
                    <a:lnTo>
                      <a:pt x="0" y="52482"/>
                    </a:lnTo>
                  </a:path>
                </a:pathLst>
              </a:custGeom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22" name="Freeform: Shape 11"/>
              <p:cNvSpPr/>
              <p:nvPr/>
            </p:nvSpPr>
            <p:spPr>
              <a:xfrm>
                <a:off x="2711365" y="5313097"/>
                <a:ext cx="20592" cy="85256"/>
              </a:xfrm>
              <a:custGeom>
                <a:avLst/>
                <a:gdLst>
                  <a:gd name="connsiteX0" fmla="*/ 0 w 12676"/>
                  <a:gd name="connsiteY0" fmla="*/ 0 h 52481"/>
                  <a:gd name="connsiteX1" fmla="*/ 0 w 12676"/>
                  <a:gd name="connsiteY1" fmla="*/ 52482 h 52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76" h="52481">
                    <a:moveTo>
                      <a:pt x="0" y="0"/>
                    </a:moveTo>
                    <a:lnTo>
                      <a:pt x="0" y="52482"/>
                    </a:lnTo>
                  </a:path>
                </a:pathLst>
              </a:custGeom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23" name="Freeform: Shape 12"/>
              <p:cNvSpPr/>
              <p:nvPr/>
            </p:nvSpPr>
            <p:spPr>
              <a:xfrm>
                <a:off x="3602238" y="5313097"/>
                <a:ext cx="20592" cy="85256"/>
              </a:xfrm>
              <a:custGeom>
                <a:avLst/>
                <a:gdLst>
                  <a:gd name="connsiteX0" fmla="*/ 0 w 12676"/>
                  <a:gd name="connsiteY0" fmla="*/ 0 h 52481"/>
                  <a:gd name="connsiteX1" fmla="*/ 0 w 12676"/>
                  <a:gd name="connsiteY1" fmla="*/ 52482 h 52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76" h="52481">
                    <a:moveTo>
                      <a:pt x="0" y="0"/>
                    </a:moveTo>
                    <a:lnTo>
                      <a:pt x="0" y="52482"/>
                    </a:lnTo>
                  </a:path>
                </a:pathLst>
              </a:custGeom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24" name="Freeform: Shape 13"/>
              <p:cNvSpPr/>
              <p:nvPr/>
            </p:nvSpPr>
            <p:spPr>
              <a:xfrm>
                <a:off x="4493110" y="5313097"/>
                <a:ext cx="20592" cy="85256"/>
              </a:xfrm>
              <a:custGeom>
                <a:avLst/>
                <a:gdLst>
                  <a:gd name="connsiteX0" fmla="*/ 0 w 12676"/>
                  <a:gd name="connsiteY0" fmla="*/ 0 h 52481"/>
                  <a:gd name="connsiteX1" fmla="*/ 0 w 12676"/>
                  <a:gd name="connsiteY1" fmla="*/ 52482 h 52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76" h="52481">
                    <a:moveTo>
                      <a:pt x="0" y="0"/>
                    </a:moveTo>
                    <a:lnTo>
                      <a:pt x="0" y="52482"/>
                    </a:lnTo>
                  </a:path>
                </a:pathLst>
              </a:custGeom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25" name="Freeform: Shape 14"/>
              <p:cNvSpPr/>
              <p:nvPr/>
            </p:nvSpPr>
            <p:spPr>
              <a:xfrm>
                <a:off x="5383984" y="5313097"/>
                <a:ext cx="20592" cy="85256"/>
              </a:xfrm>
              <a:custGeom>
                <a:avLst/>
                <a:gdLst>
                  <a:gd name="connsiteX0" fmla="*/ 0 w 12676"/>
                  <a:gd name="connsiteY0" fmla="*/ 0 h 52481"/>
                  <a:gd name="connsiteX1" fmla="*/ 0 w 12676"/>
                  <a:gd name="connsiteY1" fmla="*/ 52482 h 52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76" h="52481">
                    <a:moveTo>
                      <a:pt x="0" y="0"/>
                    </a:moveTo>
                    <a:lnTo>
                      <a:pt x="0" y="52482"/>
                    </a:lnTo>
                  </a:path>
                </a:pathLst>
              </a:custGeom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26" name="Freeform: Shape 16"/>
              <p:cNvSpPr/>
              <p:nvPr/>
            </p:nvSpPr>
            <p:spPr>
              <a:xfrm>
                <a:off x="6274856" y="5313097"/>
                <a:ext cx="20592" cy="85256"/>
              </a:xfrm>
              <a:custGeom>
                <a:avLst/>
                <a:gdLst>
                  <a:gd name="connsiteX0" fmla="*/ 0 w 12676"/>
                  <a:gd name="connsiteY0" fmla="*/ 0 h 52481"/>
                  <a:gd name="connsiteX1" fmla="*/ 0 w 12676"/>
                  <a:gd name="connsiteY1" fmla="*/ 52482 h 52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76" h="52481">
                    <a:moveTo>
                      <a:pt x="0" y="0"/>
                    </a:moveTo>
                    <a:lnTo>
                      <a:pt x="0" y="52482"/>
                    </a:lnTo>
                  </a:path>
                </a:pathLst>
              </a:custGeom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27" name="Freeform: Shape 17"/>
              <p:cNvSpPr/>
              <p:nvPr/>
            </p:nvSpPr>
            <p:spPr>
              <a:xfrm>
                <a:off x="928178" y="1995084"/>
                <a:ext cx="3041653" cy="74273"/>
              </a:xfrm>
              <a:custGeom>
                <a:avLst/>
                <a:gdLst>
                  <a:gd name="connsiteX0" fmla="*/ 0 w 1872349"/>
                  <a:gd name="connsiteY0" fmla="*/ 0 h 49185"/>
                  <a:gd name="connsiteX1" fmla="*/ 1872349 w 1872349"/>
                  <a:gd name="connsiteY1" fmla="*/ 0 h 49185"/>
                  <a:gd name="connsiteX2" fmla="*/ 1872349 w 1872349"/>
                  <a:gd name="connsiteY2" fmla="*/ 49186 h 49185"/>
                  <a:gd name="connsiteX3" fmla="*/ 0 w 1872349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72349" h="49185">
                    <a:moveTo>
                      <a:pt x="0" y="0"/>
                    </a:moveTo>
                    <a:lnTo>
                      <a:pt x="1872349" y="0"/>
                    </a:lnTo>
                    <a:lnTo>
                      <a:pt x="1872349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28" name="Freeform: Shape 18"/>
              <p:cNvSpPr/>
              <p:nvPr/>
            </p:nvSpPr>
            <p:spPr>
              <a:xfrm>
                <a:off x="3970037" y="1995084"/>
                <a:ext cx="1250846" cy="74273"/>
              </a:xfrm>
              <a:custGeom>
                <a:avLst/>
                <a:gdLst>
                  <a:gd name="connsiteX0" fmla="*/ 0 w 769983"/>
                  <a:gd name="connsiteY0" fmla="*/ 0 h 49185"/>
                  <a:gd name="connsiteX1" fmla="*/ 769983 w 769983"/>
                  <a:gd name="connsiteY1" fmla="*/ 0 h 49185"/>
                  <a:gd name="connsiteX2" fmla="*/ 769983 w 769983"/>
                  <a:gd name="connsiteY2" fmla="*/ 49186 h 49185"/>
                  <a:gd name="connsiteX3" fmla="*/ 0 w 769983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9983" h="49185">
                    <a:moveTo>
                      <a:pt x="0" y="0"/>
                    </a:moveTo>
                    <a:lnTo>
                      <a:pt x="769983" y="0"/>
                    </a:lnTo>
                    <a:lnTo>
                      <a:pt x="769983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FFFFFF">
                  <a:alpha val="46000"/>
                </a:srgbClr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29" name="Freeform: Shape 19"/>
              <p:cNvSpPr/>
              <p:nvPr/>
            </p:nvSpPr>
            <p:spPr>
              <a:xfrm>
                <a:off x="928178" y="2103198"/>
                <a:ext cx="2413964" cy="74273"/>
              </a:xfrm>
              <a:custGeom>
                <a:avLst/>
                <a:gdLst>
                  <a:gd name="connsiteX0" fmla="*/ 0 w 1485963"/>
                  <a:gd name="connsiteY0" fmla="*/ 0 h 49185"/>
                  <a:gd name="connsiteX1" fmla="*/ 1485963 w 1485963"/>
                  <a:gd name="connsiteY1" fmla="*/ 0 h 49185"/>
                  <a:gd name="connsiteX2" fmla="*/ 1485963 w 1485963"/>
                  <a:gd name="connsiteY2" fmla="*/ 49186 h 49185"/>
                  <a:gd name="connsiteX3" fmla="*/ 0 w 1485963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85963" h="49185">
                    <a:moveTo>
                      <a:pt x="0" y="0"/>
                    </a:moveTo>
                    <a:lnTo>
                      <a:pt x="1485963" y="0"/>
                    </a:lnTo>
                    <a:lnTo>
                      <a:pt x="1485963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30" name="Freeform: Shape 20"/>
              <p:cNvSpPr/>
              <p:nvPr/>
            </p:nvSpPr>
            <p:spPr>
              <a:xfrm>
                <a:off x="3343789" y="2103198"/>
                <a:ext cx="1835082" cy="74273"/>
              </a:xfrm>
              <a:custGeom>
                <a:avLst/>
                <a:gdLst>
                  <a:gd name="connsiteX0" fmla="*/ 0 w 1129621"/>
                  <a:gd name="connsiteY0" fmla="*/ 0 h 49185"/>
                  <a:gd name="connsiteX1" fmla="*/ 1129621 w 1129621"/>
                  <a:gd name="connsiteY1" fmla="*/ 0 h 49185"/>
                  <a:gd name="connsiteX2" fmla="*/ 1129621 w 1129621"/>
                  <a:gd name="connsiteY2" fmla="*/ 49186 h 49185"/>
                  <a:gd name="connsiteX3" fmla="*/ 0 w 1129621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9621" h="49185">
                    <a:moveTo>
                      <a:pt x="0" y="0"/>
                    </a:moveTo>
                    <a:lnTo>
                      <a:pt x="1129621" y="0"/>
                    </a:lnTo>
                    <a:lnTo>
                      <a:pt x="1129621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FFFFFF">
                  <a:alpha val="46000"/>
                </a:srgbClr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31" name="Freeform: Shape 21"/>
              <p:cNvSpPr/>
              <p:nvPr/>
            </p:nvSpPr>
            <p:spPr>
              <a:xfrm>
                <a:off x="928178" y="2211108"/>
                <a:ext cx="2635962" cy="74273"/>
              </a:xfrm>
              <a:custGeom>
                <a:avLst/>
                <a:gdLst>
                  <a:gd name="connsiteX0" fmla="*/ 0 w 1622618"/>
                  <a:gd name="connsiteY0" fmla="*/ 0 h 49185"/>
                  <a:gd name="connsiteX1" fmla="*/ 1622618 w 1622618"/>
                  <a:gd name="connsiteY1" fmla="*/ 0 h 49185"/>
                  <a:gd name="connsiteX2" fmla="*/ 1622618 w 1622618"/>
                  <a:gd name="connsiteY2" fmla="*/ 49186 h 49185"/>
                  <a:gd name="connsiteX3" fmla="*/ 0 w 1622618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22618" h="49185">
                    <a:moveTo>
                      <a:pt x="0" y="0"/>
                    </a:moveTo>
                    <a:lnTo>
                      <a:pt x="1622618" y="0"/>
                    </a:lnTo>
                    <a:lnTo>
                      <a:pt x="1622618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32" name="Freeform: Shape 22"/>
              <p:cNvSpPr/>
              <p:nvPr/>
            </p:nvSpPr>
            <p:spPr>
              <a:xfrm>
                <a:off x="3565787" y="2211108"/>
                <a:ext cx="1560571" cy="74273"/>
              </a:xfrm>
              <a:custGeom>
                <a:avLst/>
                <a:gdLst>
                  <a:gd name="connsiteX0" fmla="*/ 0 w 960640"/>
                  <a:gd name="connsiteY0" fmla="*/ 0 h 49185"/>
                  <a:gd name="connsiteX1" fmla="*/ 960641 w 960640"/>
                  <a:gd name="connsiteY1" fmla="*/ 0 h 49185"/>
                  <a:gd name="connsiteX2" fmla="*/ 960641 w 960640"/>
                  <a:gd name="connsiteY2" fmla="*/ 49186 h 49185"/>
                  <a:gd name="connsiteX3" fmla="*/ 0 w 960640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0640" h="49185">
                    <a:moveTo>
                      <a:pt x="0" y="0"/>
                    </a:moveTo>
                    <a:lnTo>
                      <a:pt x="960641" y="0"/>
                    </a:lnTo>
                    <a:lnTo>
                      <a:pt x="960641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FFFFFF">
                  <a:alpha val="46000"/>
                </a:srgbClr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33" name="Freeform: Shape 23"/>
              <p:cNvSpPr/>
              <p:nvPr/>
            </p:nvSpPr>
            <p:spPr>
              <a:xfrm>
                <a:off x="928178" y="2313459"/>
                <a:ext cx="3578729" cy="74273"/>
              </a:xfrm>
              <a:custGeom>
                <a:avLst/>
                <a:gdLst>
                  <a:gd name="connsiteX0" fmla="*/ 0 w 2202957"/>
                  <a:gd name="connsiteY0" fmla="*/ 0 h 49185"/>
                  <a:gd name="connsiteX1" fmla="*/ 2202958 w 2202957"/>
                  <a:gd name="connsiteY1" fmla="*/ 0 h 49185"/>
                  <a:gd name="connsiteX2" fmla="*/ 2202958 w 2202957"/>
                  <a:gd name="connsiteY2" fmla="*/ 49186 h 49185"/>
                  <a:gd name="connsiteX3" fmla="*/ 0 w 2202957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2957" h="49185">
                    <a:moveTo>
                      <a:pt x="0" y="0"/>
                    </a:moveTo>
                    <a:lnTo>
                      <a:pt x="2202958" y="0"/>
                    </a:lnTo>
                    <a:lnTo>
                      <a:pt x="2202958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34" name="Freeform: Shape 24"/>
              <p:cNvSpPr/>
              <p:nvPr/>
            </p:nvSpPr>
            <p:spPr>
              <a:xfrm>
                <a:off x="4514117" y="2314030"/>
                <a:ext cx="597209" cy="74273"/>
              </a:xfrm>
              <a:custGeom>
                <a:avLst/>
                <a:gdLst>
                  <a:gd name="connsiteX0" fmla="*/ 0 w 367624"/>
                  <a:gd name="connsiteY0" fmla="*/ 0 h 53242"/>
                  <a:gd name="connsiteX1" fmla="*/ 367625 w 367624"/>
                  <a:gd name="connsiteY1" fmla="*/ 0 h 53242"/>
                  <a:gd name="connsiteX2" fmla="*/ 367625 w 367624"/>
                  <a:gd name="connsiteY2" fmla="*/ 53242 h 53242"/>
                  <a:gd name="connsiteX3" fmla="*/ 0 w 367624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7624" h="53242">
                    <a:moveTo>
                      <a:pt x="0" y="0"/>
                    </a:moveTo>
                    <a:lnTo>
                      <a:pt x="367625" y="0"/>
                    </a:lnTo>
                    <a:lnTo>
                      <a:pt x="367625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35" name="Freeform: Shape 25"/>
              <p:cNvSpPr/>
              <p:nvPr/>
            </p:nvSpPr>
            <p:spPr>
              <a:xfrm>
                <a:off x="928178" y="2419308"/>
                <a:ext cx="2097030" cy="74273"/>
              </a:xfrm>
              <a:custGeom>
                <a:avLst/>
                <a:gdLst>
                  <a:gd name="connsiteX0" fmla="*/ 0 w 1290868"/>
                  <a:gd name="connsiteY0" fmla="*/ 0 h 49185"/>
                  <a:gd name="connsiteX1" fmla="*/ 1290869 w 1290868"/>
                  <a:gd name="connsiteY1" fmla="*/ 0 h 49185"/>
                  <a:gd name="connsiteX2" fmla="*/ 1290869 w 1290868"/>
                  <a:gd name="connsiteY2" fmla="*/ 49186 h 49185"/>
                  <a:gd name="connsiteX3" fmla="*/ 0 w 1290868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0868" h="49185">
                    <a:moveTo>
                      <a:pt x="0" y="0"/>
                    </a:moveTo>
                    <a:lnTo>
                      <a:pt x="1290869" y="0"/>
                    </a:lnTo>
                    <a:lnTo>
                      <a:pt x="1290869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36" name="Freeform: Shape 26"/>
              <p:cNvSpPr/>
              <p:nvPr/>
            </p:nvSpPr>
            <p:spPr>
              <a:xfrm>
                <a:off x="3028754" y="2419676"/>
                <a:ext cx="948739" cy="74273"/>
              </a:xfrm>
              <a:custGeom>
                <a:avLst/>
                <a:gdLst>
                  <a:gd name="connsiteX0" fmla="*/ 0 w 584015"/>
                  <a:gd name="connsiteY0" fmla="*/ 0 h 53242"/>
                  <a:gd name="connsiteX1" fmla="*/ 584016 w 584015"/>
                  <a:gd name="connsiteY1" fmla="*/ 0 h 53242"/>
                  <a:gd name="connsiteX2" fmla="*/ 584016 w 584015"/>
                  <a:gd name="connsiteY2" fmla="*/ 53242 h 53242"/>
                  <a:gd name="connsiteX3" fmla="*/ 0 w 584015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4015" h="53242">
                    <a:moveTo>
                      <a:pt x="0" y="0"/>
                    </a:moveTo>
                    <a:lnTo>
                      <a:pt x="584016" y="0"/>
                    </a:lnTo>
                    <a:lnTo>
                      <a:pt x="584016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37" name="Freeform: Shape 27"/>
              <p:cNvSpPr/>
              <p:nvPr/>
            </p:nvSpPr>
            <p:spPr>
              <a:xfrm>
                <a:off x="3977495" y="2419308"/>
                <a:ext cx="490330" cy="74273"/>
              </a:xfrm>
              <a:custGeom>
                <a:avLst/>
                <a:gdLst>
                  <a:gd name="connsiteX0" fmla="*/ 0 w 301832"/>
                  <a:gd name="connsiteY0" fmla="*/ 0 h 49185"/>
                  <a:gd name="connsiteX1" fmla="*/ 301832 w 301832"/>
                  <a:gd name="connsiteY1" fmla="*/ 0 h 49185"/>
                  <a:gd name="connsiteX2" fmla="*/ 301832 w 301832"/>
                  <a:gd name="connsiteY2" fmla="*/ 49186 h 49185"/>
                  <a:gd name="connsiteX3" fmla="*/ 0 w 301832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832" h="49185">
                    <a:moveTo>
                      <a:pt x="0" y="0"/>
                    </a:moveTo>
                    <a:lnTo>
                      <a:pt x="301832" y="0"/>
                    </a:lnTo>
                    <a:lnTo>
                      <a:pt x="301832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38" name="Freeform: Shape 28"/>
              <p:cNvSpPr/>
              <p:nvPr/>
            </p:nvSpPr>
            <p:spPr>
              <a:xfrm>
                <a:off x="4471899" y="2419676"/>
                <a:ext cx="583412" cy="74273"/>
              </a:xfrm>
              <a:custGeom>
                <a:avLst/>
                <a:gdLst>
                  <a:gd name="connsiteX0" fmla="*/ 0 w 359131"/>
                  <a:gd name="connsiteY0" fmla="*/ 0 h 53242"/>
                  <a:gd name="connsiteX1" fmla="*/ 359131 w 359131"/>
                  <a:gd name="connsiteY1" fmla="*/ 0 h 53242"/>
                  <a:gd name="connsiteX2" fmla="*/ 359131 w 359131"/>
                  <a:gd name="connsiteY2" fmla="*/ 53242 h 53242"/>
                  <a:gd name="connsiteX3" fmla="*/ 0 w 359131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9131" h="53242">
                    <a:moveTo>
                      <a:pt x="0" y="0"/>
                    </a:moveTo>
                    <a:lnTo>
                      <a:pt x="359131" y="0"/>
                    </a:lnTo>
                    <a:lnTo>
                      <a:pt x="359131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39" name="Freeform: Shape 29"/>
              <p:cNvSpPr/>
              <p:nvPr/>
            </p:nvSpPr>
            <p:spPr>
              <a:xfrm>
                <a:off x="928178" y="2523591"/>
                <a:ext cx="1254964" cy="74273"/>
              </a:xfrm>
              <a:custGeom>
                <a:avLst/>
                <a:gdLst>
                  <a:gd name="connsiteX0" fmla="*/ 0 w 772518"/>
                  <a:gd name="connsiteY0" fmla="*/ 0 h 49185"/>
                  <a:gd name="connsiteX1" fmla="*/ 772518 w 772518"/>
                  <a:gd name="connsiteY1" fmla="*/ 0 h 49185"/>
                  <a:gd name="connsiteX2" fmla="*/ 772518 w 772518"/>
                  <a:gd name="connsiteY2" fmla="*/ 49186 h 49185"/>
                  <a:gd name="connsiteX3" fmla="*/ 0 w 772518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2518" h="49185">
                    <a:moveTo>
                      <a:pt x="0" y="0"/>
                    </a:moveTo>
                    <a:lnTo>
                      <a:pt x="772518" y="0"/>
                    </a:lnTo>
                    <a:lnTo>
                      <a:pt x="772518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40" name="Freeform: Shape 30"/>
              <p:cNvSpPr/>
              <p:nvPr/>
            </p:nvSpPr>
            <p:spPr>
              <a:xfrm>
                <a:off x="2186689" y="2523591"/>
                <a:ext cx="1221808" cy="74273"/>
              </a:xfrm>
              <a:custGeom>
                <a:avLst/>
                <a:gdLst>
                  <a:gd name="connsiteX0" fmla="*/ 0 w 752108"/>
                  <a:gd name="connsiteY0" fmla="*/ 0 h 53242"/>
                  <a:gd name="connsiteX1" fmla="*/ 752109 w 752108"/>
                  <a:gd name="connsiteY1" fmla="*/ 0 h 53242"/>
                  <a:gd name="connsiteX2" fmla="*/ 752109 w 752108"/>
                  <a:gd name="connsiteY2" fmla="*/ 53242 h 53242"/>
                  <a:gd name="connsiteX3" fmla="*/ 0 w 752108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2108" h="53242">
                    <a:moveTo>
                      <a:pt x="0" y="0"/>
                    </a:moveTo>
                    <a:lnTo>
                      <a:pt x="752109" y="0"/>
                    </a:lnTo>
                    <a:lnTo>
                      <a:pt x="752109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41" name="Freeform: Shape 31"/>
              <p:cNvSpPr/>
              <p:nvPr/>
            </p:nvSpPr>
            <p:spPr>
              <a:xfrm>
                <a:off x="3408427" y="2523591"/>
                <a:ext cx="814676" cy="74273"/>
              </a:xfrm>
              <a:custGeom>
                <a:avLst/>
                <a:gdLst>
                  <a:gd name="connsiteX0" fmla="*/ 0 w 501490"/>
                  <a:gd name="connsiteY0" fmla="*/ 0 h 49185"/>
                  <a:gd name="connsiteX1" fmla="*/ 501490 w 501490"/>
                  <a:gd name="connsiteY1" fmla="*/ 0 h 49185"/>
                  <a:gd name="connsiteX2" fmla="*/ 501490 w 501490"/>
                  <a:gd name="connsiteY2" fmla="*/ 49186 h 49185"/>
                  <a:gd name="connsiteX3" fmla="*/ 0 w 501490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1490" h="49185">
                    <a:moveTo>
                      <a:pt x="0" y="0"/>
                    </a:moveTo>
                    <a:lnTo>
                      <a:pt x="501490" y="0"/>
                    </a:lnTo>
                    <a:lnTo>
                      <a:pt x="501490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42" name="Freeform: Shape 32"/>
              <p:cNvSpPr/>
              <p:nvPr/>
            </p:nvSpPr>
            <p:spPr>
              <a:xfrm>
                <a:off x="4226767" y="2523591"/>
                <a:ext cx="803144" cy="74273"/>
              </a:xfrm>
              <a:custGeom>
                <a:avLst/>
                <a:gdLst>
                  <a:gd name="connsiteX0" fmla="*/ 0 w 494391"/>
                  <a:gd name="connsiteY0" fmla="*/ 0 h 53242"/>
                  <a:gd name="connsiteX1" fmla="*/ 494392 w 494391"/>
                  <a:gd name="connsiteY1" fmla="*/ 0 h 53242"/>
                  <a:gd name="connsiteX2" fmla="*/ 494392 w 494391"/>
                  <a:gd name="connsiteY2" fmla="*/ 53242 h 53242"/>
                  <a:gd name="connsiteX3" fmla="*/ 0 w 494391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4391" h="53242">
                    <a:moveTo>
                      <a:pt x="0" y="0"/>
                    </a:moveTo>
                    <a:lnTo>
                      <a:pt x="494392" y="0"/>
                    </a:lnTo>
                    <a:lnTo>
                      <a:pt x="494392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43" name="Freeform: Shape 33"/>
              <p:cNvSpPr/>
              <p:nvPr/>
            </p:nvSpPr>
            <p:spPr>
              <a:xfrm>
                <a:off x="928178" y="2632347"/>
                <a:ext cx="1753943" cy="74273"/>
              </a:xfrm>
              <a:custGeom>
                <a:avLst/>
                <a:gdLst>
                  <a:gd name="connsiteX0" fmla="*/ 0 w 1079674"/>
                  <a:gd name="connsiteY0" fmla="*/ 0 h 49185"/>
                  <a:gd name="connsiteX1" fmla="*/ 1079675 w 1079674"/>
                  <a:gd name="connsiteY1" fmla="*/ 0 h 49185"/>
                  <a:gd name="connsiteX2" fmla="*/ 1079675 w 1079674"/>
                  <a:gd name="connsiteY2" fmla="*/ 49186 h 49185"/>
                  <a:gd name="connsiteX3" fmla="*/ 0 w 1079674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9674" h="49185">
                    <a:moveTo>
                      <a:pt x="0" y="0"/>
                    </a:moveTo>
                    <a:lnTo>
                      <a:pt x="1079675" y="0"/>
                    </a:lnTo>
                    <a:lnTo>
                      <a:pt x="1079675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44" name="Freeform: Shape 34"/>
              <p:cNvSpPr/>
              <p:nvPr/>
            </p:nvSpPr>
            <p:spPr>
              <a:xfrm>
                <a:off x="2685463" y="2632347"/>
                <a:ext cx="2329325" cy="74273"/>
              </a:xfrm>
              <a:custGeom>
                <a:avLst/>
                <a:gdLst>
                  <a:gd name="connsiteX0" fmla="*/ 0 w 1433862"/>
                  <a:gd name="connsiteY0" fmla="*/ 0 h 53242"/>
                  <a:gd name="connsiteX1" fmla="*/ 1433862 w 1433862"/>
                  <a:gd name="connsiteY1" fmla="*/ 0 h 53242"/>
                  <a:gd name="connsiteX2" fmla="*/ 1433862 w 1433862"/>
                  <a:gd name="connsiteY2" fmla="*/ 53242 h 53242"/>
                  <a:gd name="connsiteX3" fmla="*/ 0 w 1433862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862" h="53242">
                    <a:moveTo>
                      <a:pt x="0" y="0"/>
                    </a:moveTo>
                    <a:lnTo>
                      <a:pt x="1433862" y="0"/>
                    </a:lnTo>
                    <a:lnTo>
                      <a:pt x="1433862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45" name="Freeform: Shape 35"/>
              <p:cNvSpPr/>
              <p:nvPr/>
            </p:nvSpPr>
            <p:spPr>
              <a:xfrm>
                <a:off x="928178" y="2741389"/>
                <a:ext cx="3373825" cy="74273"/>
              </a:xfrm>
              <a:custGeom>
                <a:avLst/>
                <a:gdLst>
                  <a:gd name="connsiteX0" fmla="*/ 0 w 2076824"/>
                  <a:gd name="connsiteY0" fmla="*/ 0 h 49185"/>
                  <a:gd name="connsiteX1" fmla="*/ 2076825 w 2076824"/>
                  <a:gd name="connsiteY1" fmla="*/ 0 h 49185"/>
                  <a:gd name="connsiteX2" fmla="*/ 2076825 w 2076824"/>
                  <a:gd name="connsiteY2" fmla="*/ 49186 h 49185"/>
                  <a:gd name="connsiteX3" fmla="*/ 0 w 2076824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76824" h="49185">
                    <a:moveTo>
                      <a:pt x="0" y="0"/>
                    </a:moveTo>
                    <a:lnTo>
                      <a:pt x="2076825" y="0"/>
                    </a:lnTo>
                    <a:lnTo>
                      <a:pt x="2076825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46" name="Freeform: Shape 36"/>
              <p:cNvSpPr/>
              <p:nvPr/>
            </p:nvSpPr>
            <p:spPr>
              <a:xfrm>
                <a:off x="4302003" y="2741389"/>
                <a:ext cx="689262" cy="74271"/>
              </a:xfrm>
              <a:custGeom>
                <a:avLst/>
                <a:gdLst>
                  <a:gd name="connsiteX0" fmla="*/ 0 w 414147"/>
                  <a:gd name="connsiteY0" fmla="*/ 0 h 53242"/>
                  <a:gd name="connsiteX1" fmla="*/ 414148 w 414147"/>
                  <a:gd name="connsiteY1" fmla="*/ 0 h 53242"/>
                  <a:gd name="connsiteX2" fmla="*/ 414148 w 414147"/>
                  <a:gd name="connsiteY2" fmla="*/ 53242 h 53242"/>
                  <a:gd name="connsiteX3" fmla="*/ 0 w 414147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14147" h="53242">
                    <a:moveTo>
                      <a:pt x="0" y="0"/>
                    </a:moveTo>
                    <a:lnTo>
                      <a:pt x="414148" y="0"/>
                    </a:lnTo>
                    <a:lnTo>
                      <a:pt x="414148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47" name="Freeform: Shape 37"/>
              <p:cNvSpPr/>
              <p:nvPr/>
            </p:nvSpPr>
            <p:spPr>
              <a:xfrm>
                <a:off x="928178" y="2850535"/>
                <a:ext cx="1687015" cy="74273"/>
              </a:xfrm>
              <a:custGeom>
                <a:avLst/>
                <a:gdLst>
                  <a:gd name="connsiteX0" fmla="*/ 0 w 1038475"/>
                  <a:gd name="connsiteY0" fmla="*/ 0 h 49185"/>
                  <a:gd name="connsiteX1" fmla="*/ 1038476 w 1038475"/>
                  <a:gd name="connsiteY1" fmla="*/ 0 h 49185"/>
                  <a:gd name="connsiteX2" fmla="*/ 1038476 w 1038475"/>
                  <a:gd name="connsiteY2" fmla="*/ 49186 h 49185"/>
                  <a:gd name="connsiteX3" fmla="*/ 0 w 1038475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8475" h="49185">
                    <a:moveTo>
                      <a:pt x="0" y="0"/>
                    </a:moveTo>
                    <a:lnTo>
                      <a:pt x="1038476" y="0"/>
                    </a:lnTo>
                    <a:lnTo>
                      <a:pt x="1038476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48" name="Freeform: Shape 38"/>
              <p:cNvSpPr/>
              <p:nvPr/>
            </p:nvSpPr>
            <p:spPr>
              <a:xfrm>
                <a:off x="2622402" y="2850535"/>
                <a:ext cx="2346006" cy="74273"/>
              </a:xfrm>
              <a:custGeom>
                <a:avLst/>
                <a:gdLst>
                  <a:gd name="connsiteX0" fmla="*/ 0 w 1444130"/>
                  <a:gd name="connsiteY0" fmla="*/ 0 h 53242"/>
                  <a:gd name="connsiteX1" fmla="*/ 1444130 w 1444130"/>
                  <a:gd name="connsiteY1" fmla="*/ 0 h 53242"/>
                  <a:gd name="connsiteX2" fmla="*/ 1444130 w 1444130"/>
                  <a:gd name="connsiteY2" fmla="*/ 53242 h 53242"/>
                  <a:gd name="connsiteX3" fmla="*/ 0 w 1444130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44130" h="53242">
                    <a:moveTo>
                      <a:pt x="0" y="0"/>
                    </a:moveTo>
                    <a:lnTo>
                      <a:pt x="1444130" y="0"/>
                    </a:lnTo>
                    <a:lnTo>
                      <a:pt x="1444130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49" name="Freeform: Shape 39"/>
              <p:cNvSpPr/>
              <p:nvPr/>
            </p:nvSpPr>
            <p:spPr>
              <a:xfrm>
                <a:off x="928178" y="2959679"/>
                <a:ext cx="2710304" cy="74273"/>
              </a:xfrm>
              <a:custGeom>
                <a:avLst/>
                <a:gdLst>
                  <a:gd name="connsiteX0" fmla="*/ 0 w 1668381"/>
                  <a:gd name="connsiteY0" fmla="*/ 0 h 49185"/>
                  <a:gd name="connsiteX1" fmla="*/ 1668381 w 1668381"/>
                  <a:gd name="connsiteY1" fmla="*/ 0 h 49185"/>
                  <a:gd name="connsiteX2" fmla="*/ 1668381 w 1668381"/>
                  <a:gd name="connsiteY2" fmla="*/ 49186 h 49185"/>
                  <a:gd name="connsiteX3" fmla="*/ 0 w 1668381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8381" h="49185">
                    <a:moveTo>
                      <a:pt x="0" y="0"/>
                    </a:moveTo>
                    <a:lnTo>
                      <a:pt x="1668381" y="0"/>
                    </a:lnTo>
                    <a:lnTo>
                      <a:pt x="1668381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50" name="Freeform: Shape 40"/>
              <p:cNvSpPr/>
              <p:nvPr/>
            </p:nvSpPr>
            <p:spPr>
              <a:xfrm>
                <a:off x="3622830" y="2959679"/>
                <a:ext cx="1311392" cy="74271"/>
              </a:xfrm>
              <a:custGeom>
                <a:avLst/>
                <a:gdLst>
                  <a:gd name="connsiteX0" fmla="*/ 0 w 793054"/>
                  <a:gd name="connsiteY0" fmla="*/ 0 h 53242"/>
                  <a:gd name="connsiteX1" fmla="*/ 793055 w 793054"/>
                  <a:gd name="connsiteY1" fmla="*/ 0 h 53242"/>
                  <a:gd name="connsiteX2" fmla="*/ 793055 w 793054"/>
                  <a:gd name="connsiteY2" fmla="*/ 53242 h 53242"/>
                  <a:gd name="connsiteX3" fmla="*/ 0 w 793054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3054" h="53242">
                    <a:moveTo>
                      <a:pt x="0" y="0"/>
                    </a:moveTo>
                    <a:lnTo>
                      <a:pt x="793055" y="0"/>
                    </a:lnTo>
                    <a:lnTo>
                      <a:pt x="793055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51" name="Freeform: Shape 41"/>
              <p:cNvSpPr/>
              <p:nvPr/>
            </p:nvSpPr>
            <p:spPr>
              <a:xfrm>
                <a:off x="928178" y="3068619"/>
                <a:ext cx="779049" cy="74273"/>
              </a:xfrm>
              <a:custGeom>
                <a:avLst/>
                <a:gdLst>
                  <a:gd name="connsiteX0" fmla="*/ 0 w 479559"/>
                  <a:gd name="connsiteY0" fmla="*/ 0 h 49185"/>
                  <a:gd name="connsiteX1" fmla="*/ 479560 w 479559"/>
                  <a:gd name="connsiteY1" fmla="*/ 0 h 49185"/>
                  <a:gd name="connsiteX2" fmla="*/ 479560 w 479559"/>
                  <a:gd name="connsiteY2" fmla="*/ 49186 h 49185"/>
                  <a:gd name="connsiteX3" fmla="*/ 0 w 479559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9559" h="49185">
                    <a:moveTo>
                      <a:pt x="0" y="0"/>
                    </a:moveTo>
                    <a:lnTo>
                      <a:pt x="479560" y="0"/>
                    </a:lnTo>
                    <a:lnTo>
                      <a:pt x="479560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52" name="Freeform: Shape 42"/>
              <p:cNvSpPr/>
              <p:nvPr/>
            </p:nvSpPr>
            <p:spPr>
              <a:xfrm>
                <a:off x="1707227" y="3068619"/>
                <a:ext cx="3208459" cy="74271"/>
              </a:xfrm>
              <a:custGeom>
                <a:avLst/>
                <a:gdLst>
                  <a:gd name="connsiteX0" fmla="*/ 0 w 1970466"/>
                  <a:gd name="connsiteY0" fmla="*/ 0 h 53242"/>
                  <a:gd name="connsiteX1" fmla="*/ 1970467 w 1970466"/>
                  <a:gd name="connsiteY1" fmla="*/ 0 h 53242"/>
                  <a:gd name="connsiteX2" fmla="*/ 1970467 w 1970466"/>
                  <a:gd name="connsiteY2" fmla="*/ 53242 h 53242"/>
                  <a:gd name="connsiteX3" fmla="*/ 0 w 1970466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0466" h="53242">
                    <a:moveTo>
                      <a:pt x="0" y="0"/>
                    </a:moveTo>
                    <a:lnTo>
                      <a:pt x="1970467" y="0"/>
                    </a:lnTo>
                    <a:lnTo>
                      <a:pt x="1970467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53" name="Freeform: Shape 43"/>
              <p:cNvSpPr/>
              <p:nvPr/>
            </p:nvSpPr>
            <p:spPr>
              <a:xfrm>
                <a:off x="928178" y="3181059"/>
                <a:ext cx="779049" cy="74273"/>
              </a:xfrm>
              <a:custGeom>
                <a:avLst/>
                <a:gdLst>
                  <a:gd name="connsiteX0" fmla="*/ 0 w 479559"/>
                  <a:gd name="connsiteY0" fmla="*/ 0 h 49185"/>
                  <a:gd name="connsiteX1" fmla="*/ 479560 w 479559"/>
                  <a:gd name="connsiteY1" fmla="*/ 0 h 49185"/>
                  <a:gd name="connsiteX2" fmla="*/ 479560 w 479559"/>
                  <a:gd name="connsiteY2" fmla="*/ 49186 h 49185"/>
                  <a:gd name="connsiteX3" fmla="*/ 0 w 479559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9559" h="49185">
                    <a:moveTo>
                      <a:pt x="0" y="0"/>
                    </a:moveTo>
                    <a:lnTo>
                      <a:pt x="479560" y="0"/>
                    </a:lnTo>
                    <a:lnTo>
                      <a:pt x="479560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54" name="Freeform: Shape 44"/>
              <p:cNvSpPr/>
              <p:nvPr/>
            </p:nvSpPr>
            <p:spPr>
              <a:xfrm>
                <a:off x="1707227" y="3181059"/>
                <a:ext cx="3208459" cy="74271"/>
              </a:xfrm>
              <a:custGeom>
                <a:avLst/>
                <a:gdLst>
                  <a:gd name="connsiteX0" fmla="*/ 0 w 1970466"/>
                  <a:gd name="connsiteY0" fmla="*/ 0 h 53242"/>
                  <a:gd name="connsiteX1" fmla="*/ 1970467 w 1970466"/>
                  <a:gd name="connsiteY1" fmla="*/ 0 h 53242"/>
                  <a:gd name="connsiteX2" fmla="*/ 1970467 w 1970466"/>
                  <a:gd name="connsiteY2" fmla="*/ 53242 h 53242"/>
                  <a:gd name="connsiteX3" fmla="*/ 0 w 1970466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0466" h="53242">
                    <a:moveTo>
                      <a:pt x="0" y="0"/>
                    </a:moveTo>
                    <a:lnTo>
                      <a:pt x="1970467" y="0"/>
                    </a:lnTo>
                    <a:lnTo>
                      <a:pt x="1970467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55" name="Freeform: Shape 45"/>
              <p:cNvSpPr/>
              <p:nvPr/>
            </p:nvSpPr>
            <p:spPr>
              <a:xfrm>
                <a:off x="928178" y="3293500"/>
                <a:ext cx="1779068" cy="74273"/>
              </a:xfrm>
              <a:custGeom>
                <a:avLst/>
                <a:gdLst>
                  <a:gd name="connsiteX0" fmla="*/ 0 w 1095140"/>
                  <a:gd name="connsiteY0" fmla="*/ 0 h 49185"/>
                  <a:gd name="connsiteX1" fmla="*/ 1095141 w 1095140"/>
                  <a:gd name="connsiteY1" fmla="*/ 0 h 49185"/>
                  <a:gd name="connsiteX2" fmla="*/ 1095141 w 1095140"/>
                  <a:gd name="connsiteY2" fmla="*/ 49186 h 49185"/>
                  <a:gd name="connsiteX3" fmla="*/ 0 w 1095140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5140" h="49185">
                    <a:moveTo>
                      <a:pt x="0" y="0"/>
                    </a:moveTo>
                    <a:lnTo>
                      <a:pt x="1095141" y="0"/>
                    </a:lnTo>
                    <a:lnTo>
                      <a:pt x="1095141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56" name="Freeform: Shape 46"/>
              <p:cNvSpPr/>
              <p:nvPr/>
            </p:nvSpPr>
            <p:spPr>
              <a:xfrm>
                <a:off x="2710586" y="3293500"/>
                <a:ext cx="2160046" cy="74273"/>
              </a:xfrm>
              <a:custGeom>
                <a:avLst/>
                <a:gdLst>
                  <a:gd name="connsiteX0" fmla="*/ 0 w 1329659"/>
                  <a:gd name="connsiteY0" fmla="*/ 0 h 53242"/>
                  <a:gd name="connsiteX1" fmla="*/ 1329660 w 1329659"/>
                  <a:gd name="connsiteY1" fmla="*/ 0 h 53242"/>
                  <a:gd name="connsiteX2" fmla="*/ 1329660 w 1329659"/>
                  <a:gd name="connsiteY2" fmla="*/ 53242 h 53242"/>
                  <a:gd name="connsiteX3" fmla="*/ 0 w 1329659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659" h="53242">
                    <a:moveTo>
                      <a:pt x="0" y="0"/>
                    </a:moveTo>
                    <a:lnTo>
                      <a:pt x="1329660" y="0"/>
                    </a:lnTo>
                    <a:lnTo>
                      <a:pt x="1329660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57" name="Freeform: Shape 47"/>
              <p:cNvSpPr/>
              <p:nvPr/>
            </p:nvSpPr>
            <p:spPr>
              <a:xfrm>
                <a:off x="928178" y="3405939"/>
                <a:ext cx="2216061" cy="74273"/>
              </a:xfrm>
              <a:custGeom>
                <a:avLst/>
                <a:gdLst>
                  <a:gd name="connsiteX0" fmla="*/ 0 w 1364140"/>
                  <a:gd name="connsiteY0" fmla="*/ 0 h 49185"/>
                  <a:gd name="connsiteX1" fmla="*/ 1364140 w 1364140"/>
                  <a:gd name="connsiteY1" fmla="*/ 0 h 49185"/>
                  <a:gd name="connsiteX2" fmla="*/ 1364140 w 1364140"/>
                  <a:gd name="connsiteY2" fmla="*/ 49186 h 49185"/>
                  <a:gd name="connsiteX3" fmla="*/ 0 w 1364140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4140" h="49185">
                    <a:moveTo>
                      <a:pt x="0" y="0"/>
                    </a:moveTo>
                    <a:lnTo>
                      <a:pt x="1364140" y="0"/>
                    </a:lnTo>
                    <a:lnTo>
                      <a:pt x="1364140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58" name="Freeform: Shape 48"/>
              <p:cNvSpPr/>
              <p:nvPr/>
            </p:nvSpPr>
            <p:spPr>
              <a:xfrm>
                <a:off x="3147785" y="3405939"/>
                <a:ext cx="1599492" cy="74273"/>
              </a:xfrm>
              <a:custGeom>
                <a:avLst/>
                <a:gdLst>
                  <a:gd name="connsiteX0" fmla="*/ 0 w 984599"/>
                  <a:gd name="connsiteY0" fmla="*/ 0 h 53242"/>
                  <a:gd name="connsiteX1" fmla="*/ 984600 w 984599"/>
                  <a:gd name="connsiteY1" fmla="*/ 0 h 53242"/>
                  <a:gd name="connsiteX2" fmla="*/ 984600 w 984599"/>
                  <a:gd name="connsiteY2" fmla="*/ 53242 h 53242"/>
                  <a:gd name="connsiteX3" fmla="*/ 0 w 984599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599" h="53242">
                    <a:moveTo>
                      <a:pt x="0" y="0"/>
                    </a:moveTo>
                    <a:lnTo>
                      <a:pt x="984600" y="0"/>
                    </a:lnTo>
                    <a:lnTo>
                      <a:pt x="984600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59" name="Freeform: Shape 49"/>
              <p:cNvSpPr/>
              <p:nvPr/>
            </p:nvSpPr>
            <p:spPr>
              <a:xfrm>
                <a:off x="928178" y="3518379"/>
                <a:ext cx="1140670" cy="74273"/>
              </a:xfrm>
              <a:custGeom>
                <a:avLst/>
                <a:gdLst>
                  <a:gd name="connsiteX0" fmla="*/ 0 w 702162"/>
                  <a:gd name="connsiteY0" fmla="*/ 0 h 49185"/>
                  <a:gd name="connsiteX1" fmla="*/ 702163 w 702162"/>
                  <a:gd name="connsiteY1" fmla="*/ 0 h 49185"/>
                  <a:gd name="connsiteX2" fmla="*/ 702163 w 702162"/>
                  <a:gd name="connsiteY2" fmla="*/ 49186 h 49185"/>
                  <a:gd name="connsiteX3" fmla="*/ 0 w 702162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2162" h="49185">
                    <a:moveTo>
                      <a:pt x="0" y="0"/>
                    </a:moveTo>
                    <a:lnTo>
                      <a:pt x="702163" y="0"/>
                    </a:lnTo>
                    <a:lnTo>
                      <a:pt x="702163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60" name="Freeform: Shape 50"/>
              <p:cNvSpPr/>
              <p:nvPr/>
            </p:nvSpPr>
            <p:spPr>
              <a:xfrm>
                <a:off x="2068848" y="3518379"/>
                <a:ext cx="2544734" cy="74271"/>
              </a:xfrm>
              <a:custGeom>
                <a:avLst/>
                <a:gdLst>
                  <a:gd name="connsiteX0" fmla="*/ 0 w 1562023"/>
                  <a:gd name="connsiteY0" fmla="*/ 0 h 53242"/>
                  <a:gd name="connsiteX1" fmla="*/ 1562024 w 1562023"/>
                  <a:gd name="connsiteY1" fmla="*/ 0 h 53242"/>
                  <a:gd name="connsiteX2" fmla="*/ 1562024 w 1562023"/>
                  <a:gd name="connsiteY2" fmla="*/ 53242 h 53242"/>
                  <a:gd name="connsiteX3" fmla="*/ 0 w 1562023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2023" h="53242">
                    <a:moveTo>
                      <a:pt x="0" y="0"/>
                    </a:moveTo>
                    <a:lnTo>
                      <a:pt x="1562024" y="0"/>
                    </a:lnTo>
                    <a:lnTo>
                      <a:pt x="1562024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61" name="Freeform: Shape 51"/>
              <p:cNvSpPr/>
              <p:nvPr/>
            </p:nvSpPr>
            <p:spPr>
              <a:xfrm>
                <a:off x="928178" y="3632753"/>
                <a:ext cx="1355254" cy="74273"/>
              </a:xfrm>
              <a:custGeom>
                <a:avLst/>
                <a:gdLst>
                  <a:gd name="connsiteX0" fmla="*/ 0 w 834253"/>
                  <a:gd name="connsiteY0" fmla="*/ 0 h 49185"/>
                  <a:gd name="connsiteX1" fmla="*/ 834254 w 834253"/>
                  <a:gd name="connsiteY1" fmla="*/ 0 h 49185"/>
                  <a:gd name="connsiteX2" fmla="*/ 834254 w 834253"/>
                  <a:gd name="connsiteY2" fmla="*/ 49186 h 49185"/>
                  <a:gd name="connsiteX3" fmla="*/ 0 w 834253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253" h="49185">
                    <a:moveTo>
                      <a:pt x="0" y="0"/>
                    </a:moveTo>
                    <a:lnTo>
                      <a:pt x="834254" y="0"/>
                    </a:lnTo>
                    <a:lnTo>
                      <a:pt x="834254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62" name="Freeform: Shape 52"/>
              <p:cNvSpPr/>
              <p:nvPr/>
            </p:nvSpPr>
            <p:spPr>
              <a:xfrm>
                <a:off x="2283432" y="3632753"/>
                <a:ext cx="2174669" cy="74273"/>
              </a:xfrm>
              <a:custGeom>
                <a:avLst/>
                <a:gdLst>
                  <a:gd name="connsiteX0" fmla="*/ 0 w 1326870"/>
                  <a:gd name="connsiteY0" fmla="*/ 0 h 53242"/>
                  <a:gd name="connsiteX1" fmla="*/ 1326871 w 1326870"/>
                  <a:gd name="connsiteY1" fmla="*/ 0 h 53242"/>
                  <a:gd name="connsiteX2" fmla="*/ 1326871 w 1326870"/>
                  <a:gd name="connsiteY2" fmla="*/ 53242 h 53242"/>
                  <a:gd name="connsiteX3" fmla="*/ 0 w 1326870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6870" h="53242">
                    <a:moveTo>
                      <a:pt x="0" y="0"/>
                    </a:moveTo>
                    <a:lnTo>
                      <a:pt x="1326871" y="0"/>
                    </a:lnTo>
                    <a:lnTo>
                      <a:pt x="1326871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63" name="Freeform: Shape 53"/>
              <p:cNvSpPr/>
              <p:nvPr/>
            </p:nvSpPr>
            <p:spPr>
              <a:xfrm>
                <a:off x="928178" y="3735228"/>
                <a:ext cx="216231" cy="74273"/>
              </a:xfrm>
              <a:custGeom>
                <a:avLst/>
                <a:gdLst>
                  <a:gd name="connsiteX0" fmla="*/ 0 w 133105"/>
                  <a:gd name="connsiteY0" fmla="*/ 0 h 49185"/>
                  <a:gd name="connsiteX1" fmla="*/ 133105 w 133105"/>
                  <a:gd name="connsiteY1" fmla="*/ 0 h 49185"/>
                  <a:gd name="connsiteX2" fmla="*/ 133105 w 133105"/>
                  <a:gd name="connsiteY2" fmla="*/ 49186 h 49185"/>
                  <a:gd name="connsiteX3" fmla="*/ 0 w 133105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105" h="49185">
                    <a:moveTo>
                      <a:pt x="0" y="0"/>
                    </a:moveTo>
                    <a:lnTo>
                      <a:pt x="133105" y="0"/>
                    </a:lnTo>
                    <a:lnTo>
                      <a:pt x="133105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64" name="Freeform: Shape 54"/>
              <p:cNvSpPr/>
              <p:nvPr/>
            </p:nvSpPr>
            <p:spPr>
              <a:xfrm>
                <a:off x="1144410" y="3735228"/>
                <a:ext cx="3226582" cy="74271"/>
              </a:xfrm>
              <a:custGeom>
                <a:avLst/>
                <a:gdLst>
                  <a:gd name="connsiteX0" fmla="*/ 0 w 1981749"/>
                  <a:gd name="connsiteY0" fmla="*/ 0 h 53242"/>
                  <a:gd name="connsiteX1" fmla="*/ 1981749 w 1981749"/>
                  <a:gd name="connsiteY1" fmla="*/ 0 h 53242"/>
                  <a:gd name="connsiteX2" fmla="*/ 1981749 w 1981749"/>
                  <a:gd name="connsiteY2" fmla="*/ 53242 h 53242"/>
                  <a:gd name="connsiteX3" fmla="*/ 0 w 1981749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1749" h="53242">
                    <a:moveTo>
                      <a:pt x="0" y="0"/>
                    </a:moveTo>
                    <a:lnTo>
                      <a:pt x="1981749" y="0"/>
                    </a:lnTo>
                    <a:lnTo>
                      <a:pt x="1981749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65" name="Freeform: Shape 55"/>
              <p:cNvSpPr/>
              <p:nvPr/>
            </p:nvSpPr>
            <p:spPr>
              <a:xfrm>
                <a:off x="928178" y="3843138"/>
                <a:ext cx="2362480" cy="74273"/>
              </a:xfrm>
              <a:custGeom>
                <a:avLst/>
                <a:gdLst>
                  <a:gd name="connsiteX0" fmla="*/ 0 w 1454271"/>
                  <a:gd name="connsiteY0" fmla="*/ 0 h 49185"/>
                  <a:gd name="connsiteX1" fmla="*/ 1454272 w 1454271"/>
                  <a:gd name="connsiteY1" fmla="*/ 0 h 49185"/>
                  <a:gd name="connsiteX2" fmla="*/ 1454272 w 1454271"/>
                  <a:gd name="connsiteY2" fmla="*/ 49186 h 49185"/>
                  <a:gd name="connsiteX3" fmla="*/ 0 w 1454271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4271" h="49185">
                    <a:moveTo>
                      <a:pt x="0" y="0"/>
                    </a:moveTo>
                    <a:lnTo>
                      <a:pt x="1454272" y="0"/>
                    </a:lnTo>
                    <a:lnTo>
                      <a:pt x="1454272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66" name="Freeform: Shape 56"/>
              <p:cNvSpPr/>
              <p:nvPr/>
            </p:nvSpPr>
            <p:spPr>
              <a:xfrm>
                <a:off x="3290658" y="3843138"/>
                <a:ext cx="660638" cy="74271"/>
              </a:xfrm>
              <a:custGeom>
                <a:avLst/>
                <a:gdLst>
                  <a:gd name="connsiteX0" fmla="*/ 0 w 402105"/>
                  <a:gd name="connsiteY0" fmla="*/ 0 h 53242"/>
                  <a:gd name="connsiteX1" fmla="*/ 402105 w 402105"/>
                  <a:gd name="connsiteY1" fmla="*/ 0 h 53242"/>
                  <a:gd name="connsiteX2" fmla="*/ 402105 w 402105"/>
                  <a:gd name="connsiteY2" fmla="*/ 53242 h 53242"/>
                  <a:gd name="connsiteX3" fmla="*/ 0 w 402105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2105" h="53242">
                    <a:moveTo>
                      <a:pt x="0" y="0"/>
                    </a:moveTo>
                    <a:lnTo>
                      <a:pt x="402105" y="0"/>
                    </a:lnTo>
                    <a:lnTo>
                      <a:pt x="402105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67" name="Freeform: Shape 57"/>
              <p:cNvSpPr/>
              <p:nvPr/>
            </p:nvSpPr>
            <p:spPr>
              <a:xfrm>
                <a:off x="928178" y="3950841"/>
                <a:ext cx="168247" cy="74273"/>
              </a:xfrm>
              <a:custGeom>
                <a:avLst/>
                <a:gdLst>
                  <a:gd name="connsiteX0" fmla="*/ 0 w 103568"/>
                  <a:gd name="connsiteY0" fmla="*/ 0 h 49185"/>
                  <a:gd name="connsiteX1" fmla="*/ 103569 w 103568"/>
                  <a:gd name="connsiteY1" fmla="*/ 0 h 49185"/>
                  <a:gd name="connsiteX2" fmla="*/ 103569 w 103568"/>
                  <a:gd name="connsiteY2" fmla="*/ 49186 h 49185"/>
                  <a:gd name="connsiteX3" fmla="*/ 0 w 103568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568" h="49185">
                    <a:moveTo>
                      <a:pt x="0" y="0"/>
                    </a:moveTo>
                    <a:lnTo>
                      <a:pt x="103569" y="0"/>
                    </a:lnTo>
                    <a:lnTo>
                      <a:pt x="103569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68" name="Freeform: Shape 58"/>
              <p:cNvSpPr/>
              <p:nvPr/>
            </p:nvSpPr>
            <p:spPr>
              <a:xfrm>
                <a:off x="1096425" y="3950841"/>
                <a:ext cx="2734605" cy="74271"/>
              </a:xfrm>
              <a:custGeom>
                <a:avLst/>
                <a:gdLst>
                  <a:gd name="connsiteX0" fmla="*/ 0 w 1678902"/>
                  <a:gd name="connsiteY0" fmla="*/ 0 h 53242"/>
                  <a:gd name="connsiteX1" fmla="*/ 1678903 w 1678902"/>
                  <a:gd name="connsiteY1" fmla="*/ 0 h 53242"/>
                  <a:gd name="connsiteX2" fmla="*/ 1678903 w 1678902"/>
                  <a:gd name="connsiteY2" fmla="*/ 53242 h 53242"/>
                  <a:gd name="connsiteX3" fmla="*/ 0 w 1678902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8902" h="53242">
                    <a:moveTo>
                      <a:pt x="0" y="0"/>
                    </a:moveTo>
                    <a:lnTo>
                      <a:pt x="1678903" y="0"/>
                    </a:lnTo>
                    <a:lnTo>
                      <a:pt x="1678903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69" name="Freeform: Shape 59"/>
              <p:cNvSpPr/>
              <p:nvPr/>
            </p:nvSpPr>
            <p:spPr>
              <a:xfrm>
                <a:off x="928178" y="4071314"/>
                <a:ext cx="1048617" cy="74273"/>
              </a:xfrm>
              <a:custGeom>
                <a:avLst/>
                <a:gdLst>
                  <a:gd name="connsiteX0" fmla="*/ 0 w 645497"/>
                  <a:gd name="connsiteY0" fmla="*/ 0 h 49185"/>
                  <a:gd name="connsiteX1" fmla="*/ 645498 w 645497"/>
                  <a:gd name="connsiteY1" fmla="*/ 0 h 49185"/>
                  <a:gd name="connsiteX2" fmla="*/ 645498 w 645497"/>
                  <a:gd name="connsiteY2" fmla="*/ 49186 h 49185"/>
                  <a:gd name="connsiteX3" fmla="*/ 0 w 645497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497" h="49185">
                    <a:moveTo>
                      <a:pt x="0" y="0"/>
                    </a:moveTo>
                    <a:lnTo>
                      <a:pt x="645498" y="0"/>
                    </a:lnTo>
                    <a:lnTo>
                      <a:pt x="645498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70" name="Freeform: Shape 60"/>
              <p:cNvSpPr/>
              <p:nvPr/>
            </p:nvSpPr>
            <p:spPr>
              <a:xfrm>
                <a:off x="1984005" y="4071314"/>
                <a:ext cx="1737262" cy="74273"/>
              </a:xfrm>
              <a:custGeom>
                <a:avLst/>
                <a:gdLst>
                  <a:gd name="connsiteX0" fmla="*/ 0 w 1069406"/>
                  <a:gd name="connsiteY0" fmla="*/ 0 h 53242"/>
                  <a:gd name="connsiteX1" fmla="*/ 1069407 w 1069406"/>
                  <a:gd name="connsiteY1" fmla="*/ 0 h 53242"/>
                  <a:gd name="connsiteX2" fmla="*/ 1069407 w 1069406"/>
                  <a:gd name="connsiteY2" fmla="*/ 53242 h 53242"/>
                  <a:gd name="connsiteX3" fmla="*/ 0 w 1069406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406" h="53242">
                    <a:moveTo>
                      <a:pt x="0" y="0"/>
                    </a:moveTo>
                    <a:lnTo>
                      <a:pt x="1069407" y="0"/>
                    </a:lnTo>
                    <a:lnTo>
                      <a:pt x="1069407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71" name="Freeform: Shape 61"/>
              <p:cNvSpPr/>
              <p:nvPr/>
            </p:nvSpPr>
            <p:spPr>
              <a:xfrm>
                <a:off x="928178" y="4175722"/>
                <a:ext cx="271215" cy="74273"/>
              </a:xfrm>
              <a:custGeom>
                <a:avLst/>
                <a:gdLst>
                  <a:gd name="connsiteX0" fmla="*/ 0 w 166952"/>
                  <a:gd name="connsiteY0" fmla="*/ 0 h 49185"/>
                  <a:gd name="connsiteX1" fmla="*/ 166952 w 166952"/>
                  <a:gd name="connsiteY1" fmla="*/ 0 h 49185"/>
                  <a:gd name="connsiteX2" fmla="*/ 166952 w 166952"/>
                  <a:gd name="connsiteY2" fmla="*/ 49186 h 49185"/>
                  <a:gd name="connsiteX3" fmla="*/ 0 w 166952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952" h="49185">
                    <a:moveTo>
                      <a:pt x="0" y="0"/>
                    </a:moveTo>
                    <a:lnTo>
                      <a:pt x="166952" y="0"/>
                    </a:lnTo>
                    <a:lnTo>
                      <a:pt x="166952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72" name="Freeform: Shape 62"/>
              <p:cNvSpPr/>
              <p:nvPr/>
            </p:nvSpPr>
            <p:spPr>
              <a:xfrm>
                <a:off x="1199395" y="4175722"/>
                <a:ext cx="2212971" cy="74273"/>
              </a:xfrm>
              <a:custGeom>
                <a:avLst/>
                <a:gdLst>
                  <a:gd name="connsiteX0" fmla="*/ 0 w 1357801"/>
                  <a:gd name="connsiteY0" fmla="*/ 0 h 53242"/>
                  <a:gd name="connsiteX1" fmla="*/ 1357802 w 1357801"/>
                  <a:gd name="connsiteY1" fmla="*/ 0 h 53242"/>
                  <a:gd name="connsiteX2" fmla="*/ 1357802 w 1357801"/>
                  <a:gd name="connsiteY2" fmla="*/ 53242 h 53242"/>
                  <a:gd name="connsiteX3" fmla="*/ 0 w 1357801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801" h="53242">
                    <a:moveTo>
                      <a:pt x="0" y="0"/>
                    </a:moveTo>
                    <a:lnTo>
                      <a:pt x="1357802" y="0"/>
                    </a:lnTo>
                    <a:lnTo>
                      <a:pt x="1357802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73" name="Freeform: Shape 63"/>
              <p:cNvSpPr/>
              <p:nvPr/>
            </p:nvSpPr>
            <p:spPr>
              <a:xfrm>
                <a:off x="928178" y="4283528"/>
                <a:ext cx="1568602" cy="74273"/>
              </a:xfrm>
              <a:custGeom>
                <a:avLst/>
                <a:gdLst>
                  <a:gd name="connsiteX0" fmla="*/ 0 w 965584"/>
                  <a:gd name="connsiteY0" fmla="*/ 0 h 49185"/>
                  <a:gd name="connsiteX1" fmla="*/ 965585 w 965584"/>
                  <a:gd name="connsiteY1" fmla="*/ 0 h 49185"/>
                  <a:gd name="connsiteX2" fmla="*/ 965585 w 965584"/>
                  <a:gd name="connsiteY2" fmla="*/ 49186 h 49185"/>
                  <a:gd name="connsiteX3" fmla="*/ 0 w 965584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584" h="49185">
                    <a:moveTo>
                      <a:pt x="0" y="0"/>
                    </a:moveTo>
                    <a:lnTo>
                      <a:pt x="965585" y="0"/>
                    </a:lnTo>
                    <a:lnTo>
                      <a:pt x="965585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74" name="Freeform: Shape 64"/>
              <p:cNvSpPr/>
              <p:nvPr/>
            </p:nvSpPr>
            <p:spPr>
              <a:xfrm>
                <a:off x="2495512" y="4283528"/>
                <a:ext cx="752105" cy="74271"/>
              </a:xfrm>
              <a:custGeom>
                <a:avLst/>
                <a:gdLst>
                  <a:gd name="connsiteX0" fmla="*/ 0 w 457755"/>
                  <a:gd name="connsiteY0" fmla="*/ 0 h 53242"/>
                  <a:gd name="connsiteX1" fmla="*/ 457756 w 457755"/>
                  <a:gd name="connsiteY1" fmla="*/ 0 h 53242"/>
                  <a:gd name="connsiteX2" fmla="*/ 457756 w 457755"/>
                  <a:gd name="connsiteY2" fmla="*/ 53242 h 53242"/>
                  <a:gd name="connsiteX3" fmla="*/ 0 w 457755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7755" h="53242">
                    <a:moveTo>
                      <a:pt x="0" y="0"/>
                    </a:moveTo>
                    <a:lnTo>
                      <a:pt x="457756" y="0"/>
                    </a:lnTo>
                    <a:lnTo>
                      <a:pt x="457756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75" name="Freeform: Shape 65"/>
              <p:cNvSpPr/>
              <p:nvPr/>
            </p:nvSpPr>
            <p:spPr>
              <a:xfrm>
                <a:off x="928178" y="4391336"/>
                <a:ext cx="1069624" cy="74273"/>
              </a:xfrm>
              <a:custGeom>
                <a:avLst/>
                <a:gdLst>
                  <a:gd name="connsiteX0" fmla="*/ 0 w 658428"/>
                  <a:gd name="connsiteY0" fmla="*/ 0 h 49185"/>
                  <a:gd name="connsiteX1" fmla="*/ 658428 w 658428"/>
                  <a:gd name="connsiteY1" fmla="*/ 0 h 49185"/>
                  <a:gd name="connsiteX2" fmla="*/ 658428 w 658428"/>
                  <a:gd name="connsiteY2" fmla="*/ 49186 h 49185"/>
                  <a:gd name="connsiteX3" fmla="*/ 0 w 658428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8428" h="49185">
                    <a:moveTo>
                      <a:pt x="0" y="0"/>
                    </a:moveTo>
                    <a:lnTo>
                      <a:pt x="658428" y="0"/>
                    </a:lnTo>
                    <a:lnTo>
                      <a:pt x="658428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76" name="Freeform: Shape 66"/>
              <p:cNvSpPr/>
              <p:nvPr/>
            </p:nvSpPr>
            <p:spPr>
              <a:xfrm>
                <a:off x="1997802" y="4391336"/>
                <a:ext cx="1123990" cy="74271"/>
              </a:xfrm>
              <a:custGeom>
                <a:avLst/>
                <a:gdLst>
                  <a:gd name="connsiteX0" fmla="*/ 0 w 687330"/>
                  <a:gd name="connsiteY0" fmla="*/ 0 h 53242"/>
                  <a:gd name="connsiteX1" fmla="*/ 687331 w 687330"/>
                  <a:gd name="connsiteY1" fmla="*/ 0 h 53242"/>
                  <a:gd name="connsiteX2" fmla="*/ 687331 w 687330"/>
                  <a:gd name="connsiteY2" fmla="*/ 53242 h 53242"/>
                  <a:gd name="connsiteX3" fmla="*/ 0 w 687330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7330" h="53242">
                    <a:moveTo>
                      <a:pt x="0" y="0"/>
                    </a:moveTo>
                    <a:lnTo>
                      <a:pt x="687331" y="0"/>
                    </a:lnTo>
                    <a:lnTo>
                      <a:pt x="687331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77" name="Freeform: Shape 67"/>
              <p:cNvSpPr/>
              <p:nvPr/>
            </p:nvSpPr>
            <p:spPr>
              <a:xfrm>
                <a:off x="928178" y="4502540"/>
                <a:ext cx="545725" cy="74273"/>
              </a:xfrm>
              <a:custGeom>
                <a:avLst/>
                <a:gdLst>
                  <a:gd name="connsiteX0" fmla="*/ 0 w 335932"/>
                  <a:gd name="connsiteY0" fmla="*/ 0 h 49185"/>
                  <a:gd name="connsiteX1" fmla="*/ 335933 w 335932"/>
                  <a:gd name="connsiteY1" fmla="*/ 0 h 49185"/>
                  <a:gd name="connsiteX2" fmla="*/ 335933 w 335932"/>
                  <a:gd name="connsiteY2" fmla="*/ 49186 h 49185"/>
                  <a:gd name="connsiteX3" fmla="*/ 0 w 335932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5932" h="49185">
                    <a:moveTo>
                      <a:pt x="0" y="0"/>
                    </a:moveTo>
                    <a:lnTo>
                      <a:pt x="335933" y="0"/>
                    </a:lnTo>
                    <a:lnTo>
                      <a:pt x="335933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78" name="Freeform: Shape 68"/>
              <p:cNvSpPr/>
              <p:nvPr/>
            </p:nvSpPr>
            <p:spPr>
              <a:xfrm>
                <a:off x="1481113" y="4502540"/>
                <a:ext cx="1498791" cy="74273"/>
              </a:xfrm>
              <a:custGeom>
                <a:avLst/>
                <a:gdLst>
                  <a:gd name="connsiteX0" fmla="*/ 0 w 922610"/>
                  <a:gd name="connsiteY0" fmla="*/ 0 h 53242"/>
                  <a:gd name="connsiteX1" fmla="*/ 922611 w 922610"/>
                  <a:gd name="connsiteY1" fmla="*/ 0 h 53242"/>
                  <a:gd name="connsiteX2" fmla="*/ 922611 w 922610"/>
                  <a:gd name="connsiteY2" fmla="*/ 53242 h 53242"/>
                  <a:gd name="connsiteX3" fmla="*/ 0 w 922610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610" h="53242">
                    <a:moveTo>
                      <a:pt x="0" y="0"/>
                    </a:moveTo>
                    <a:lnTo>
                      <a:pt x="922611" y="0"/>
                    </a:lnTo>
                    <a:lnTo>
                      <a:pt x="922611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79" name="Freeform: Shape 69"/>
              <p:cNvSpPr/>
              <p:nvPr/>
            </p:nvSpPr>
            <p:spPr>
              <a:xfrm>
                <a:off x="928178" y="4617038"/>
                <a:ext cx="117793" cy="74273"/>
              </a:xfrm>
              <a:custGeom>
                <a:avLst/>
                <a:gdLst>
                  <a:gd name="connsiteX0" fmla="*/ 0 w 72510"/>
                  <a:gd name="connsiteY0" fmla="*/ 0 h 49185"/>
                  <a:gd name="connsiteX1" fmla="*/ 72511 w 72510"/>
                  <a:gd name="connsiteY1" fmla="*/ 0 h 49185"/>
                  <a:gd name="connsiteX2" fmla="*/ 72511 w 72510"/>
                  <a:gd name="connsiteY2" fmla="*/ 49186 h 49185"/>
                  <a:gd name="connsiteX3" fmla="*/ 0 w 72510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510" h="49185">
                    <a:moveTo>
                      <a:pt x="0" y="0"/>
                    </a:moveTo>
                    <a:lnTo>
                      <a:pt x="72511" y="0"/>
                    </a:lnTo>
                    <a:lnTo>
                      <a:pt x="72511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80" name="Freeform: Shape 70"/>
              <p:cNvSpPr/>
              <p:nvPr/>
            </p:nvSpPr>
            <p:spPr>
              <a:xfrm>
                <a:off x="1045971" y="4617038"/>
                <a:ext cx="1829934" cy="74271"/>
              </a:xfrm>
              <a:custGeom>
                <a:avLst/>
                <a:gdLst>
                  <a:gd name="connsiteX0" fmla="*/ 0 w 1121888"/>
                  <a:gd name="connsiteY0" fmla="*/ 0 h 53242"/>
                  <a:gd name="connsiteX1" fmla="*/ 1121888 w 1121888"/>
                  <a:gd name="connsiteY1" fmla="*/ 0 h 53242"/>
                  <a:gd name="connsiteX2" fmla="*/ 1121888 w 1121888"/>
                  <a:gd name="connsiteY2" fmla="*/ 53242 h 53242"/>
                  <a:gd name="connsiteX3" fmla="*/ 0 w 1121888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1888" h="53242">
                    <a:moveTo>
                      <a:pt x="0" y="0"/>
                    </a:moveTo>
                    <a:lnTo>
                      <a:pt x="1121888" y="0"/>
                    </a:lnTo>
                    <a:lnTo>
                      <a:pt x="1121888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81" name="Freeform: Shape 71"/>
              <p:cNvSpPr/>
              <p:nvPr/>
            </p:nvSpPr>
            <p:spPr>
              <a:xfrm>
                <a:off x="928178" y="4731539"/>
                <a:ext cx="371917" cy="74273"/>
              </a:xfrm>
              <a:custGeom>
                <a:avLst/>
                <a:gdLst>
                  <a:gd name="connsiteX0" fmla="*/ 0 w 228941"/>
                  <a:gd name="connsiteY0" fmla="*/ 0 h 49185"/>
                  <a:gd name="connsiteX1" fmla="*/ 228941 w 228941"/>
                  <a:gd name="connsiteY1" fmla="*/ 0 h 49185"/>
                  <a:gd name="connsiteX2" fmla="*/ 228941 w 228941"/>
                  <a:gd name="connsiteY2" fmla="*/ 49186 h 49185"/>
                  <a:gd name="connsiteX3" fmla="*/ 0 w 228941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8941" h="49185">
                    <a:moveTo>
                      <a:pt x="0" y="0"/>
                    </a:moveTo>
                    <a:lnTo>
                      <a:pt x="228941" y="0"/>
                    </a:lnTo>
                    <a:lnTo>
                      <a:pt x="228941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82" name="Freeform: Shape 72"/>
              <p:cNvSpPr/>
              <p:nvPr/>
            </p:nvSpPr>
            <p:spPr>
              <a:xfrm>
                <a:off x="1300095" y="4731539"/>
                <a:ext cx="1515060" cy="74271"/>
              </a:xfrm>
              <a:custGeom>
                <a:avLst/>
                <a:gdLst>
                  <a:gd name="connsiteX0" fmla="*/ 0 w 928188"/>
                  <a:gd name="connsiteY0" fmla="*/ 0 h 53242"/>
                  <a:gd name="connsiteX1" fmla="*/ 928188 w 928188"/>
                  <a:gd name="connsiteY1" fmla="*/ 0 h 53242"/>
                  <a:gd name="connsiteX2" fmla="*/ 928188 w 928188"/>
                  <a:gd name="connsiteY2" fmla="*/ 53242 h 53242"/>
                  <a:gd name="connsiteX3" fmla="*/ 0 w 928188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8188" h="53242">
                    <a:moveTo>
                      <a:pt x="0" y="0"/>
                    </a:moveTo>
                    <a:lnTo>
                      <a:pt x="928188" y="0"/>
                    </a:lnTo>
                    <a:lnTo>
                      <a:pt x="928188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83" name="Freeform: Shape 73"/>
              <p:cNvSpPr/>
              <p:nvPr/>
            </p:nvSpPr>
            <p:spPr>
              <a:xfrm>
                <a:off x="928178" y="4840683"/>
                <a:ext cx="415370" cy="74273"/>
              </a:xfrm>
              <a:custGeom>
                <a:avLst/>
                <a:gdLst>
                  <a:gd name="connsiteX0" fmla="*/ 0 w 255689"/>
                  <a:gd name="connsiteY0" fmla="*/ 0 h 49185"/>
                  <a:gd name="connsiteX1" fmla="*/ 255689 w 255689"/>
                  <a:gd name="connsiteY1" fmla="*/ 0 h 49185"/>
                  <a:gd name="connsiteX2" fmla="*/ 255689 w 255689"/>
                  <a:gd name="connsiteY2" fmla="*/ 49186 h 49185"/>
                  <a:gd name="connsiteX3" fmla="*/ 0 w 255689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5689" h="49185">
                    <a:moveTo>
                      <a:pt x="0" y="0"/>
                    </a:moveTo>
                    <a:lnTo>
                      <a:pt x="255689" y="0"/>
                    </a:lnTo>
                    <a:lnTo>
                      <a:pt x="255689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84" name="Freeform: Shape 74"/>
              <p:cNvSpPr/>
              <p:nvPr/>
            </p:nvSpPr>
            <p:spPr>
              <a:xfrm>
                <a:off x="1343549" y="4840683"/>
                <a:ext cx="1327453" cy="74273"/>
              </a:xfrm>
              <a:custGeom>
                <a:avLst/>
                <a:gdLst>
                  <a:gd name="connsiteX0" fmla="*/ 0 w 812703"/>
                  <a:gd name="connsiteY0" fmla="*/ 0 h 53242"/>
                  <a:gd name="connsiteX1" fmla="*/ 812704 w 812703"/>
                  <a:gd name="connsiteY1" fmla="*/ 0 h 53242"/>
                  <a:gd name="connsiteX2" fmla="*/ 812704 w 812703"/>
                  <a:gd name="connsiteY2" fmla="*/ 53242 h 53242"/>
                  <a:gd name="connsiteX3" fmla="*/ 0 w 812703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2703" h="53242">
                    <a:moveTo>
                      <a:pt x="0" y="0"/>
                    </a:moveTo>
                    <a:lnTo>
                      <a:pt x="812704" y="0"/>
                    </a:lnTo>
                    <a:lnTo>
                      <a:pt x="812704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85" name="Freeform: Shape 75"/>
              <p:cNvSpPr/>
              <p:nvPr/>
            </p:nvSpPr>
            <p:spPr>
              <a:xfrm>
                <a:off x="928178" y="4953536"/>
                <a:ext cx="493007" cy="74273"/>
              </a:xfrm>
              <a:custGeom>
                <a:avLst/>
                <a:gdLst>
                  <a:gd name="connsiteX0" fmla="*/ 0 w 303480"/>
                  <a:gd name="connsiteY0" fmla="*/ 0 h 49185"/>
                  <a:gd name="connsiteX1" fmla="*/ 303480 w 303480"/>
                  <a:gd name="connsiteY1" fmla="*/ 0 h 49185"/>
                  <a:gd name="connsiteX2" fmla="*/ 303480 w 303480"/>
                  <a:gd name="connsiteY2" fmla="*/ 49186 h 49185"/>
                  <a:gd name="connsiteX3" fmla="*/ 0 w 303480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3480" h="49185">
                    <a:moveTo>
                      <a:pt x="0" y="0"/>
                    </a:moveTo>
                    <a:lnTo>
                      <a:pt x="303480" y="0"/>
                    </a:lnTo>
                    <a:lnTo>
                      <a:pt x="303480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86" name="Freeform: Shape 76"/>
              <p:cNvSpPr/>
              <p:nvPr/>
            </p:nvSpPr>
            <p:spPr>
              <a:xfrm>
                <a:off x="1421370" y="4953536"/>
                <a:ext cx="1082620" cy="74271"/>
              </a:xfrm>
              <a:custGeom>
                <a:avLst/>
                <a:gdLst>
                  <a:gd name="connsiteX0" fmla="*/ 0 w 661977"/>
                  <a:gd name="connsiteY0" fmla="*/ 0 h 53242"/>
                  <a:gd name="connsiteX1" fmla="*/ 661978 w 661977"/>
                  <a:gd name="connsiteY1" fmla="*/ 0 h 53242"/>
                  <a:gd name="connsiteX2" fmla="*/ 661978 w 661977"/>
                  <a:gd name="connsiteY2" fmla="*/ 53242 h 53242"/>
                  <a:gd name="connsiteX3" fmla="*/ 0 w 661977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1977" h="53242">
                    <a:moveTo>
                      <a:pt x="0" y="0"/>
                    </a:moveTo>
                    <a:lnTo>
                      <a:pt x="661978" y="0"/>
                    </a:lnTo>
                    <a:lnTo>
                      <a:pt x="661978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87" name="Freeform: Shape 77"/>
              <p:cNvSpPr/>
              <p:nvPr/>
            </p:nvSpPr>
            <p:spPr>
              <a:xfrm>
                <a:off x="928178" y="5065460"/>
                <a:ext cx="493007" cy="74273"/>
              </a:xfrm>
              <a:custGeom>
                <a:avLst/>
                <a:gdLst>
                  <a:gd name="connsiteX0" fmla="*/ 0 w 303480"/>
                  <a:gd name="connsiteY0" fmla="*/ 0 h 49185"/>
                  <a:gd name="connsiteX1" fmla="*/ 303480 w 303480"/>
                  <a:gd name="connsiteY1" fmla="*/ 0 h 49185"/>
                  <a:gd name="connsiteX2" fmla="*/ 303480 w 303480"/>
                  <a:gd name="connsiteY2" fmla="*/ 49186 h 49185"/>
                  <a:gd name="connsiteX3" fmla="*/ 0 w 303480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3480" h="49185">
                    <a:moveTo>
                      <a:pt x="0" y="0"/>
                    </a:moveTo>
                    <a:lnTo>
                      <a:pt x="303480" y="0"/>
                    </a:lnTo>
                    <a:lnTo>
                      <a:pt x="303480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88" name="Freeform: Shape 78"/>
              <p:cNvSpPr/>
              <p:nvPr/>
            </p:nvSpPr>
            <p:spPr>
              <a:xfrm>
                <a:off x="1428599" y="5065460"/>
                <a:ext cx="1038732" cy="74273"/>
              </a:xfrm>
              <a:custGeom>
                <a:avLst/>
                <a:gdLst>
                  <a:gd name="connsiteX0" fmla="*/ 0 w 639412"/>
                  <a:gd name="connsiteY0" fmla="*/ 0 h 53242"/>
                  <a:gd name="connsiteX1" fmla="*/ 639413 w 639412"/>
                  <a:gd name="connsiteY1" fmla="*/ 0 h 53242"/>
                  <a:gd name="connsiteX2" fmla="*/ 639413 w 639412"/>
                  <a:gd name="connsiteY2" fmla="*/ 53242 h 53242"/>
                  <a:gd name="connsiteX3" fmla="*/ 0 w 639412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9412" h="53242">
                    <a:moveTo>
                      <a:pt x="0" y="0"/>
                    </a:moveTo>
                    <a:lnTo>
                      <a:pt x="639413" y="0"/>
                    </a:lnTo>
                    <a:lnTo>
                      <a:pt x="639413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89" name="Freeform: Shape 79"/>
              <p:cNvSpPr/>
              <p:nvPr/>
            </p:nvSpPr>
            <p:spPr>
              <a:xfrm>
                <a:off x="928178" y="5179446"/>
                <a:ext cx="246503" cy="74273"/>
              </a:xfrm>
              <a:custGeom>
                <a:avLst/>
                <a:gdLst>
                  <a:gd name="connsiteX0" fmla="*/ 0 w 151740"/>
                  <a:gd name="connsiteY0" fmla="*/ 0 h 49185"/>
                  <a:gd name="connsiteX1" fmla="*/ 151740 w 151740"/>
                  <a:gd name="connsiteY1" fmla="*/ 0 h 49185"/>
                  <a:gd name="connsiteX2" fmla="*/ 151740 w 151740"/>
                  <a:gd name="connsiteY2" fmla="*/ 49186 h 49185"/>
                  <a:gd name="connsiteX3" fmla="*/ 0 w 151740"/>
                  <a:gd name="connsiteY3" fmla="*/ 49186 h 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740" h="49185">
                    <a:moveTo>
                      <a:pt x="0" y="0"/>
                    </a:moveTo>
                    <a:lnTo>
                      <a:pt x="151740" y="0"/>
                    </a:lnTo>
                    <a:lnTo>
                      <a:pt x="151740" y="49186"/>
                    </a:lnTo>
                    <a:lnTo>
                      <a:pt x="0" y="49186"/>
                    </a:lnTo>
                    <a:close/>
                  </a:path>
                </a:pathLst>
              </a:custGeom>
              <a:solidFill>
                <a:srgbClr val="0000C9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90" name="Freeform: Shape 80"/>
              <p:cNvSpPr/>
              <p:nvPr/>
            </p:nvSpPr>
            <p:spPr>
              <a:xfrm>
                <a:off x="1177661" y="5179446"/>
                <a:ext cx="630544" cy="74271"/>
              </a:xfrm>
              <a:custGeom>
                <a:avLst/>
                <a:gdLst>
                  <a:gd name="connsiteX0" fmla="*/ 0 w 791279"/>
                  <a:gd name="connsiteY0" fmla="*/ 0 h 53242"/>
                  <a:gd name="connsiteX1" fmla="*/ 791280 w 791279"/>
                  <a:gd name="connsiteY1" fmla="*/ 0 h 53242"/>
                  <a:gd name="connsiteX2" fmla="*/ 791280 w 791279"/>
                  <a:gd name="connsiteY2" fmla="*/ 53242 h 53242"/>
                  <a:gd name="connsiteX3" fmla="*/ 0 w 791279"/>
                  <a:gd name="connsiteY3" fmla="*/ 53242 h 5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279" h="53242">
                    <a:moveTo>
                      <a:pt x="0" y="0"/>
                    </a:moveTo>
                    <a:lnTo>
                      <a:pt x="791280" y="0"/>
                    </a:lnTo>
                    <a:lnTo>
                      <a:pt x="791280" y="53242"/>
                    </a:lnTo>
                    <a:lnTo>
                      <a:pt x="0" y="53242"/>
                    </a:lnTo>
                    <a:close/>
                  </a:path>
                </a:pathLst>
              </a:custGeom>
              <a:solidFill>
                <a:srgbClr val="FFFFFF"/>
              </a:solidFill>
              <a:ln w="316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91" name="TextBox 81"/>
              <p:cNvSpPr txBox="1"/>
              <p:nvPr/>
            </p:nvSpPr>
            <p:spPr bwMode="gray">
              <a:xfrm>
                <a:off x="766703" y="5415791"/>
                <a:ext cx="337793" cy="2044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spcFirstLastPara="1" wrap="none" lIns="0" tIns="0" rIns="0" bIns="0" rtlCol="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0</a:t>
                </a:r>
                <a:endParaRPr kumimoji="0" lang="en-GB" sz="7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92" name="TextBox 82"/>
              <p:cNvSpPr txBox="1"/>
              <p:nvPr/>
            </p:nvSpPr>
            <p:spPr bwMode="gray">
              <a:xfrm>
                <a:off x="1637934" y="5415791"/>
                <a:ext cx="337793" cy="2044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spcFirstLastPara="1" wrap="none" lIns="0" tIns="0" rIns="0" bIns="0" rtlCol="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10</a:t>
                </a:r>
                <a:endParaRPr kumimoji="0" lang="en-GB" sz="7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93" name="TextBox 83"/>
              <p:cNvSpPr txBox="1"/>
              <p:nvPr/>
            </p:nvSpPr>
            <p:spPr bwMode="gray">
              <a:xfrm>
                <a:off x="2529238" y="5415791"/>
                <a:ext cx="337793" cy="2044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spcFirstLastPara="1" wrap="none" lIns="0" tIns="0" rIns="0" bIns="0" rtlCol="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20</a:t>
                </a:r>
                <a:endParaRPr kumimoji="0" lang="en-GB" sz="7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94" name="TextBox 84"/>
              <p:cNvSpPr txBox="1"/>
              <p:nvPr/>
            </p:nvSpPr>
            <p:spPr bwMode="gray">
              <a:xfrm>
                <a:off x="3420543" y="5415791"/>
                <a:ext cx="337793" cy="2044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spcFirstLastPara="1" wrap="none" lIns="0" tIns="0" rIns="0" bIns="0" rtlCol="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30</a:t>
                </a:r>
                <a:endParaRPr kumimoji="0" lang="en-GB" sz="7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95" name="TextBox 85"/>
              <p:cNvSpPr txBox="1"/>
              <p:nvPr/>
            </p:nvSpPr>
            <p:spPr bwMode="gray">
              <a:xfrm>
                <a:off x="4311847" y="5415789"/>
                <a:ext cx="337793" cy="2044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spcFirstLastPara="1" wrap="none" lIns="0" tIns="0" rIns="0" bIns="0" rtlCol="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40</a:t>
                </a:r>
                <a:endParaRPr kumimoji="0" lang="en-GB" sz="7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96" name="TextBox 86"/>
              <p:cNvSpPr txBox="1"/>
              <p:nvPr/>
            </p:nvSpPr>
            <p:spPr bwMode="gray">
              <a:xfrm>
                <a:off x="5203152" y="5415791"/>
                <a:ext cx="337793" cy="2044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spcFirstLastPara="1" wrap="none" lIns="0" tIns="0" rIns="0" bIns="0" rtlCol="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50</a:t>
                </a:r>
                <a:endParaRPr kumimoji="0" lang="en-GB" sz="7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97" name="TextBox 87"/>
              <p:cNvSpPr txBox="1"/>
              <p:nvPr/>
            </p:nvSpPr>
            <p:spPr bwMode="gray">
              <a:xfrm>
                <a:off x="6094453" y="5415789"/>
                <a:ext cx="337793" cy="2044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spcFirstLastPara="1" wrap="none" lIns="0" tIns="0" rIns="0" bIns="0" rtlCol="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60</a:t>
                </a:r>
                <a:endParaRPr kumimoji="0" lang="en-GB" sz="7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98" name="TextBox 88"/>
              <p:cNvSpPr txBox="1"/>
              <p:nvPr/>
            </p:nvSpPr>
            <p:spPr bwMode="gray">
              <a:xfrm>
                <a:off x="749740" y="5608786"/>
                <a:ext cx="6144466" cy="14571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spcFirstLastPara="1" wrap="none" lIns="0" tIns="0" rIns="0" bIns="0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7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自首次给药以来的时间，月</a:t>
                </a:r>
                <a:endParaRPr kumimoji="0" lang="en-GB" sz="7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99" name="TextBox 89"/>
              <p:cNvSpPr txBox="1"/>
              <p:nvPr/>
            </p:nvSpPr>
            <p:spPr bwMode="gray">
              <a:xfrm rot="16200000">
                <a:off x="-948166" y="3556020"/>
                <a:ext cx="3318012" cy="19613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spcFirstLastPara="1" wrap="none" lIns="0" tIns="0" rIns="0" bIns="0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7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患者</a:t>
                </a:r>
                <a:endParaRPr kumimoji="0" lang="en-GB" sz="7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00" name="Diamond 90"/>
              <p:cNvSpPr/>
              <p:nvPr/>
            </p:nvSpPr>
            <p:spPr bwMode="gray">
              <a:xfrm>
                <a:off x="2116128" y="1987733"/>
                <a:ext cx="103982" cy="103982"/>
              </a:xfrm>
              <a:prstGeom prst="diamond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01" name="Diamond 91"/>
              <p:cNvSpPr/>
              <p:nvPr/>
            </p:nvSpPr>
            <p:spPr bwMode="gray">
              <a:xfrm>
                <a:off x="2065840" y="2099917"/>
                <a:ext cx="103982" cy="103982"/>
              </a:xfrm>
              <a:prstGeom prst="diamond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02" name="Diamond 92"/>
              <p:cNvSpPr/>
              <p:nvPr/>
            </p:nvSpPr>
            <p:spPr bwMode="gray">
              <a:xfrm>
                <a:off x="1876290" y="2204363"/>
                <a:ext cx="103982" cy="103982"/>
              </a:xfrm>
              <a:prstGeom prst="diamond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03" name="Diamond 93"/>
              <p:cNvSpPr/>
              <p:nvPr/>
            </p:nvSpPr>
            <p:spPr bwMode="gray">
              <a:xfrm>
                <a:off x="1779581" y="2308811"/>
                <a:ext cx="103982" cy="103982"/>
              </a:xfrm>
              <a:prstGeom prst="diamond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04" name="Diamond 94"/>
              <p:cNvSpPr/>
              <p:nvPr/>
            </p:nvSpPr>
            <p:spPr bwMode="gray">
              <a:xfrm>
                <a:off x="1648056" y="2517703"/>
                <a:ext cx="103982" cy="103982"/>
              </a:xfrm>
              <a:prstGeom prst="diamond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05" name="Diamond 95"/>
              <p:cNvSpPr/>
              <p:nvPr/>
            </p:nvSpPr>
            <p:spPr bwMode="gray">
              <a:xfrm>
                <a:off x="1137431" y="2842648"/>
                <a:ext cx="103982" cy="103982"/>
              </a:xfrm>
              <a:prstGeom prst="diamond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06" name="Diamond 96"/>
              <p:cNvSpPr/>
              <p:nvPr/>
            </p:nvSpPr>
            <p:spPr bwMode="gray">
              <a:xfrm>
                <a:off x="1528136" y="2950964"/>
                <a:ext cx="103982" cy="103982"/>
              </a:xfrm>
              <a:prstGeom prst="diamond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07" name="Diamond 97"/>
              <p:cNvSpPr/>
              <p:nvPr/>
            </p:nvSpPr>
            <p:spPr bwMode="gray">
              <a:xfrm>
                <a:off x="2200372" y="3400038"/>
                <a:ext cx="103982" cy="103982"/>
              </a:xfrm>
              <a:prstGeom prst="diamond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08" name="Diamond 98"/>
              <p:cNvSpPr/>
              <p:nvPr/>
            </p:nvSpPr>
            <p:spPr bwMode="gray">
              <a:xfrm>
                <a:off x="1999217" y="3504485"/>
                <a:ext cx="103982" cy="103982"/>
              </a:xfrm>
              <a:prstGeom prst="diamond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09" name="Diamond 99"/>
              <p:cNvSpPr/>
              <p:nvPr/>
            </p:nvSpPr>
            <p:spPr bwMode="gray">
              <a:xfrm>
                <a:off x="1380278" y="3949347"/>
                <a:ext cx="103982" cy="103982"/>
              </a:xfrm>
              <a:prstGeom prst="diamond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10" name="Diamond 100"/>
              <p:cNvSpPr/>
              <p:nvPr/>
            </p:nvSpPr>
            <p:spPr bwMode="gray">
              <a:xfrm>
                <a:off x="2683919" y="4162107"/>
                <a:ext cx="103982" cy="103982"/>
              </a:xfrm>
              <a:prstGeom prst="diamond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11" name="Diamond 101"/>
              <p:cNvSpPr/>
              <p:nvPr/>
            </p:nvSpPr>
            <p:spPr bwMode="gray">
              <a:xfrm>
                <a:off x="1291557" y="4828356"/>
                <a:ext cx="103982" cy="103982"/>
              </a:xfrm>
              <a:prstGeom prst="diamond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12" name="Oval 102"/>
              <p:cNvSpPr/>
              <p:nvPr/>
            </p:nvSpPr>
            <p:spPr bwMode="gray">
              <a:xfrm>
                <a:off x="1235688" y="2423432"/>
                <a:ext cx="77367" cy="77367"/>
              </a:xfrm>
              <a:prstGeom prst="ellips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13" name="Oval 103"/>
              <p:cNvSpPr/>
              <p:nvPr/>
            </p:nvSpPr>
            <p:spPr bwMode="gray">
              <a:xfrm>
                <a:off x="2380725" y="2636192"/>
                <a:ext cx="77367" cy="77367"/>
              </a:xfrm>
              <a:prstGeom prst="ellips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14" name="Oval 104"/>
              <p:cNvSpPr/>
              <p:nvPr/>
            </p:nvSpPr>
            <p:spPr bwMode="gray">
              <a:xfrm>
                <a:off x="1452317" y="3738677"/>
                <a:ext cx="77367" cy="77367"/>
              </a:xfrm>
              <a:prstGeom prst="ellips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15" name="Oval 105"/>
              <p:cNvSpPr/>
              <p:nvPr/>
            </p:nvSpPr>
            <p:spPr bwMode="gray">
              <a:xfrm>
                <a:off x="2535460" y="3846993"/>
                <a:ext cx="77367" cy="77367"/>
              </a:xfrm>
              <a:prstGeom prst="ellips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16" name="Oval 106"/>
              <p:cNvSpPr/>
              <p:nvPr/>
            </p:nvSpPr>
            <p:spPr bwMode="gray">
              <a:xfrm>
                <a:off x="2140887" y="4284118"/>
                <a:ext cx="77367" cy="77367"/>
              </a:xfrm>
              <a:prstGeom prst="ellips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17" name="Oval 107"/>
              <p:cNvSpPr/>
              <p:nvPr/>
            </p:nvSpPr>
            <p:spPr bwMode="gray">
              <a:xfrm>
                <a:off x="1057744" y="4071357"/>
                <a:ext cx="77367" cy="77367"/>
              </a:xfrm>
              <a:prstGeom prst="ellips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18" name="Oval 108"/>
              <p:cNvSpPr/>
              <p:nvPr/>
            </p:nvSpPr>
            <p:spPr bwMode="gray">
              <a:xfrm>
                <a:off x="2467333" y="4956481"/>
                <a:ext cx="77367" cy="77367"/>
              </a:xfrm>
              <a:prstGeom prst="ellipse">
                <a:avLst/>
              </a:prstGeom>
              <a:solidFill>
                <a:srgbClr val="000000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19" name="Oval 109"/>
              <p:cNvSpPr/>
              <p:nvPr/>
            </p:nvSpPr>
            <p:spPr bwMode="gray">
              <a:xfrm>
                <a:off x="1767159" y="5180847"/>
                <a:ext cx="77367" cy="77367"/>
              </a:xfrm>
              <a:prstGeom prst="ellipse">
                <a:avLst/>
              </a:prstGeom>
              <a:solidFill>
                <a:srgbClr val="000000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20" name="Oval 110"/>
              <p:cNvSpPr/>
              <p:nvPr/>
            </p:nvSpPr>
            <p:spPr bwMode="gray">
              <a:xfrm>
                <a:off x="4134600" y="4414910"/>
                <a:ext cx="77367" cy="77367"/>
              </a:xfrm>
              <a:prstGeom prst="ellipse">
                <a:avLst/>
              </a:prstGeom>
              <a:solidFill>
                <a:srgbClr val="000000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21" name="Oval 111"/>
              <p:cNvSpPr/>
              <p:nvPr/>
            </p:nvSpPr>
            <p:spPr bwMode="gray">
              <a:xfrm>
                <a:off x="3208932" y="4286920"/>
                <a:ext cx="77367" cy="77367"/>
              </a:xfrm>
              <a:prstGeom prst="ellipse">
                <a:avLst/>
              </a:prstGeom>
              <a:solidFill>
                <a:srgbClr val="000000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22" name="Oval 112"/>
              <p:cNvSpPr/>
              <p:nvPr/>
            </p:nvSpPr>
            <p:spPr bwMode="gray">
              <a:xfrm>
                <a:off x="3905238" y="3845927"/>
                <a:ext cx="77367" cy="77367"/>
              </a:xfrm>
              <a:prstGeom prst="ellipse">
                <a:avLst/>
              </a:prstGeom>
              <a:solidFill>
                <a:srgbClr val="000000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23" name="Oval 113"/>
              <p:cNvSpPr/>
              <p:nvPr/>
            </p:nvSpPr>
            <p:spPr bwMode="gray">
              <a:xfrm>
                <a:off x="4678912" y="5076067"/>
                <a:ext cx="77367" cy="77367"/>
              </a:xfrm>
              <a:prstGeom prst="ellipse">
                <a:avLst/>
              </a:prstGeom>
              <a:solidFill>
                <a:srgbClr val="000000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24" name="Isosceles Triangle 114"/>
              <p:cNvSpPr/>
              <p:nvPr/>
            </p:nvSpPr>
            <p:spPr bwMode="gray">
              <a:xfrm>
                <a:off x="1421913" y="3621766"/>
                <a:ext cx="103982" cy="89127"/>
              </a:xfrm>
              <a:prstGeom prst="triangl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25" name="Isosceles Triangle 115"/>
              <p:cNvSpPr/>
              <p:nvPr/>
            </p:nvSpPr>
            <p:spPr bwMode="gray">
              <a:xfrm>
                <a:off x="960311" y="4376137"/>
                <a:ext cx="103982" cy="89127"/>
              </a:xfrm>
              <a:prstGeom prst="triangl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26" name="Isosceles Triangle 116"/>
              <p:cNvSpPr/>
              <p:nvPr/>
            </p:nvSpPr>
            <p:spPr bwMode="gray">
              <a:xfrm>
                <a:off x="1217970" y="4608749"/>
                <a:ext cx="103982" cy="89127"/>
              </a:xfrm>
              <a:prstGeom prst="triangl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27" name="Isosceles Triangle 117"/>
              <p:cNvSpPr/>
              <p:nvPr/>
            </p:nvSpPr>
            <p:spPr bwMode="gray">
              <a:xfrm>
                <a:off x="1489322" y="4720525"/>
                <a:ext cx="103982" cy="89127"/>
              </a:xfrm>
              <a:prstGeom prst="triangl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28" name="Isosceles Triangle 118"/>
              <p:cNvSpPr/>
              <p:nvPr/>
            </p:nvSpPr>
            <p:spPr bwMode="gray">
              <a:xfrm>
                <a:off x="1334106" y="4937910"/>
                <a:ext cx="103982" cy="89127"/>
              </a:xfrm>
              <a:prstGeom prst="triangl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29" name="Isosceles Triangle 119"/>
              <p:cNvSpPr/>
              <p:nvPr/>
            </p:nvSpPr>
            <p:spPr bwMode="gray">
              <a:xfrm>
                <a:off x="966487" y="5168232"/>
                <a:ext cx="103982" cy="89127"/>
              </a:xfrm>
              <a:prstGeom prst="triangl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30" name="Isosceles Triangle 120"/>
              <p:cNvSpPr/>
              <p:nvPr/>
            </p:nvSpPr>
            <p:spPr bwMode="gray">
              <a:xfrm>
                <a:off x="1135862" y="3286558"/>
                <a:ext cx="103982" cy="89127"/>
              </a:xfrm>
              <a:prstGeom prst="triangl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31" name="Isosceles Triangle 121"/>
              <p:cNvSpPr/>
              <p:nvPr/>
            </p:nvSpPr>
            <p:spPr bwMode="gray">
              <a:xfrm>
                <a:off x="1727012" y="3170729"/>
                <a:ext cx="103982" cy="89127"/>
              </a:xfrm>
              <a:prstGeom prst="triangl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32" name="Isosceles Triangle 122"/>
              <p:cNvSpPr/>
              <p:nvPr/>
            </p:nvSpPr>
            <p:spPr bwMode="gray">
              <a:xfrm>
                <a:off x="967241" y="3062254"/>
                <a:ext cx="103982" cy="89127"/>
              </a:xfrm>
              <a:prstGeom prst="triangl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33" name="Isosceles Triangle 123"/>
              <p:cNvSpPr/>
              <p:nvPr/>
            </p:nvSpPr>
            <p:spPr bwMode="gray">
              <a:xfrm>
                <a:off x="1317702" y="2731934"/>
                <a:ext cx="103982" cy="89127"/>
              </a:xfrm>
              <a:prstGeom prst="triangle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34" name="Star: 5 Points 124"/>
              <p:cNvSpPr/>
              <p:nvPr/>
            </p:nvSpPr>
            <p:spPr bwMode="gray">
              <a:xfrm>
                <a:off x="1400674" y="4476588"/>
                <a:ext cx="103624" cy="103624"/>
              </a:xfrm>
              <a:prstGeom prst="star5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35" name="Star: 5 Points 125"/>
              <p:cNvSpPr/>
              <p:nvPr/>
            </p:nvSpPr>
            <p:spPr bwMode="gray">
              <a:xfrm>
                <a:off x="1374147" y="5055994"/>
                <a:ext cx="103624" cy="103624"/>
              </a:xfrm>
              <a:prstGeom prst="star5">
                <a:avLst/>
              </a:prstGeom>
              <a:solidFill>
                <a:srgbClr val="FF6969"/>
              </a:solidFill>
              <a:ln w="285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36" name="Flowchart: Merge 126"/>
              <p:cNvSpPr/>
              <p:nvPr/>
            </p:nvSpPr>
            <p:spPr bwMode="gray">
              <a:xfrm rot="16200000">
                <a:off x="5279679" y="1978061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37" name="Flowchart: Merge 127"/>
              <p:cNvSpPr/>
              <p:nvPr/>
            </p:nvSpPr>
            <p:spPr bwMode="gray">
              <a:xfrm rot="16200000">
                <a:off x="5237905" y="2088990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38" name="Flowchart: Merge 128"/>
              <p:cNvSpPr/>
              <p:nvPr/>
            </p:nvSpPr>
            <p:spPr bwMode="gray">
              <a:xfrm rot="16200000">
                <a:off x="5183747" y="2196362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39" name="Flowchart: Merge 129"/>
              <p:cNvSpPr/>
              <p:nvPr/>
            </p:nvSpPr>
            <p:spPr bwMode="gray">
              <a:xfrm rot="16200000">
                <a:off x="5160536" y="2300809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40" name="Flowchart: Merge 130"/>
              <p:cNvSpPr/>
              <p:nvPr/>
            </p:nvSpPr>
            <p:spPr bwMode="gray">
              <a:xfrm rot="16200000">
                <a:off x="5114115" y="2405255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41" name="Flowchart: Merge 131"/>
              <p:cNvSpPr/>
              <p:nvPr/>
            </p:nvSpPr>
            <p:spPr bwMode="gray">
              <a:xfrm rot="16200000">
                <a:off x="5102510" y="2509701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42" name="Flowchart: Merge 132"/>
              <p:cNvSpPr/>
              <p:nvPr/>
            </p:nvSpPr>
            <p:spPr bwMode="gray">
              <a:xfrm rot="16200000">
                <a:off x="5083167" y="2621885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43" name="Flowchart: Merge 133"/>
              <p:cNvSpPr/>
              <p:nvPr/>
            </p:nvSpPr>
            <p:spPr bwMode="gray">
              <a:xfrm rot="16200000">
                <a:off x="5052220" y="2726330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44" name="Flowchart: Merge 134"/>
              <p:cNvSpPr/>
              <p:nvPr/>
            </p:nvSpPr>
            <p:spPr bwMode="gray">
              <a:xfrm rot="16200000">
                <a:off x="5021273" y="2838512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45" name="Flowchart: Merge 135"/>
              <p:cNvSpPr/>
              <p:nvPr/>
            </p:nvSpPr>
            <p:spPr bwMode="gray">
              <a:xfrm rot="16200000">
                <a:off x="4986458" y="2946826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46" name="Flowchart: Merge 136"/>
              <p:cNvSpPr/>
              <p:nvPr/>
            </p:nvSpPr>
            <p:spPr bwMode="gray">
              <a:xfrm rot="16200000">
                <a:off x="4974852" y="3055140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47" name="Flowchart: Merge 137"/>
              <p:cNvSpPr/>
              <p:nvPr/>
            </p:nvSpPr>
            <p:spPr bwMode="gray">
              <a:xfrm rot="16200000">
                <a:off x="4959379" y="3167322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48" name="Flowchart: Merge 138"/>
              <p:cNvSpPr/>
              <p:nvPr/>
            </p:nvSpPr>
            <p:spPr bwMode="gray">
              <a:xfrm rot="16200000">
                <a:off x="4936170" y="3279504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49" name="Flowchart: Merge 139"/>
              <p:cNvSpPr/>
              <p:nvPr/>
            </p:nvSpPr>
            <p:spPr bwMode="gray">
              <a:xfrm rot="16200000">
                <a:off x="4800778" y="3391687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50" name="Flowchart: Merge 140"/>
              <p:cNvSpPr/>
              <p:nvPr/>
            </p:nvSpPr>
            <p:spPr bwMode="gray">
              <a:xfrm rot="16200000">
                <a:off x="4673122" y="3503869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51" name="Flowchart: Merge 141"/>
              <p:cNvSpPr/>
              <p:nvPr/>
            </p:nvSpPr>
            <p:spPr bwMode="gray">
              <a:xfrm rot="16200000">
                <a:off x="4506782" y="3616051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52" name="Flowchart: Merge 142"/>
              <p:cNvSpPr/>
              <p:nvPr/>
            </p:nvSpPr>
            <p:spPr bwMode="gray">
              <a:xfrm rot="16200000">
                <a:off x="3887843" y="3937126"/>
                <a:ext cx="74271" cy="108314"/>
              </a:xfrm>
              <a:prstGeom prst="flowChartMerg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46800" rIns="180000" bIns="45715" numCol="1" rtlCol="0" anchor="ctr" anchorCtr="0" compatLnSpc="1"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000000"/>
                  </a:buClr>
                  <a:buSzPct val="100000"/>
                  <a:buFontTx/>
                  <a:buNone/>
                  <a:defRPr/>
                </a:pPr>
                <a:endParaRPr kumimoji="0" lang="en-US" sz="1600" b="0" i="0" u="none" strike="noStrike" kern="0" cap="none" spc="-25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53" name="Freeform: Shape 143"/>
              <p:cNvSpPr/>
              <p:nvPr/>
            </p:nvSpPr>
            <p:spPr bwMode="gray">
              <a:xfrm>
                <a:off x="4312971" y="3741470"/>
                <a:ext cx="99029" cy="74271"/>
              </a:xfrm>
              <a:custGeom>
                <a:avLst/>
                <a:gdLst>
                  <a:gd name="connsiteX0" fmla="*/ 0 w 85725"/>
                  <a:gd name="connsiteY0" fmla="*/ 0 h 64294"/>
                  <a:gd name="connsiteX1" fmla="*/ 85725 w 85725"/>
                  <a:gd name="connsiteY1" fmla="*/ 0 h 64294"/>
                  <a:gd name="connsiteX2" fmla="*/ 21431 w 85725"/>
                  <a:gd name="connsiteY2" fmla="*/ 64294 h 64294"/>
                  <a:gd name="connsiteX3" fmla="*/ 85725 w 85725"/>
                  <a:gd name="connsiteY3" fmla="*/ 64294 h 64294"/>
                  <a:gd name="connsiteX0-1" fmla="*/ 1 w 85726"/>
                  <a:gd name="connsiteY0-2" fmla="*/ 0 h 64294"/>
                  <a:gd name="connsiteX1-3" fmla="*/ 85726 w 85726"/>
                  <a:gd name="connsiteY1-4" fmla="*/ 0 h 64294"/>
                  <a:gd name="connsiteX2-5" fmla="*/ 0 w 85726"/>
                  <a:gd name="connsiteY2-6" fmla="*/ 64294 h 64294"/>
                  <a:gd name="connsiteX3-7" fmla="*/ 85726 w 85726"/>
                  <a:gd name="connsiteY3-8" fmla="*/ 64294 h 6429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85726" h="64294">
                    <a:moveTo>
                      <a:pt x="1" y="0"/>
                    </a:moveTo>
                    <a:lnTo>
                      <a:pt x="85726" y="0"/>
                    </a:lnTo>
                    <a:lnTo>
                      <a:pt x="0" y="64294"/>
                    </a:lnTo>
                    <a:lnTo>
                      <a:pt x="85726" y="64294"/>
                    </a:lnTo>
                  </a:path>
                </a:pathLst>
              </a:custGeom>
              <a:noFill/>
              <a:ln w="9525" cap="sq" cmpd="sng" algn="ctr">
                <a:solidFill>
                  <a:srgbClr val="000000"/>
                </a:solidFill>
                <a:prstDash val="solid"/>
                <a:bevel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54" name="Freeform: Shape 144"/>
              <p:cNvSpPr/>
              <p:nvPr/>
            </p:nvSpPr>
            <p:spPr bwMode="gray">
              <a:xfrm>
                <a:off x="3366679" y="4188408"/>
                <a:ext cx="99029" cy="74271"/>
              </a:xfrm>
              <a:custGeom>
                <a:avLst/>
                <a:gdLst>
                  <a:gd name="connsiteX0" fmla="*/ 0 w 85725"/>
                  <a:gd name="connsiteY0" fmla="*/ 0 h 64294"/>
                  <a:gd name="connsiteX1" fmla="*/ 85725 w 85725"/>
                  <a:gd name="connsiteY1" fmla="*/ 0 h 64294"/>
                  <a:gd name="connsiteX2" fmla="*/ 21431 w 85725"/>
                  <a:gd name="connsiteY2" fmla="*/ 64294 h 64294"/>
                  <a:gd name="connsiteX3" fmla="*/ 85725 w 85725"/>
                  <a:gd name="connsiteY3" fmla="*/ 64294 h 64294"/>
                  <a:gd name="connsiteX0-1" fmla="*/ 1 w 85726"/>
                  <a:gd name="connsiteY0-2" fmla="*/ 0 h 64294"/>
                  <a:gd name="connsiteX1-3" fmla="*/ 85726 w 85726"/>
                  <a:gd name="connsiteY1-4" fmla="*/ 0 h 64294"/>
                  <a:gd name="connsiteX2-5" fmla="*/ 0 w 85726"/>
                  <a:gd name="connsiteY2-6" fmla="*/ 64294 h 64294"/>
                  <a:gd name="connsiteX3-7" fmla="*/ 85726 w 85726"/>
                  <a:gd name="connsiteY3-8" fmla="*/ 64294 h 6429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85726" h="64294">
                    <a:moveTo>
                      <a:pt x="1" y="0"/>
                    </a:moveTo>
                    <a:lnTo>
                      <a:pt x="85726" y="0"/>
                    </a:lnTo>
                    <a:lnTo>
                      <a:pt x="0" y="64294"/>
                    </a:lnTo>
                    <a:lnTo>
                      <a:pt x="85726" y="64294"/>
                    </a:lnTo>
                  </a:path>
                </a:pathLst>
              </a:custGeom>
              <a:noFill/>
              <a:ln w="9525" cap="sq" cmpd="sng" algn="ctr">
                <a:solidFill>
                  <a:srgbClr val="000000"/>
                </a:solidFill>
                <a:prstDash val="solid"/>
                <a:bevel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55" name="Freeform: Shape 145"/>
              <p:cNvSpPr/>
              <p:nvPr/>
            </p:nvSpPr>
            <p:spPr bwMode="gray">
              <a:xfrm>
                <a:off x="2417818" y="5076362"/>
                <a:ext cx="99029" cy="74271"/>
              </a:xfrm>
              <a:custGeom>
                <a:avLst/>
                <a:gdLst>
                  <a:gd name="connsiteX0" fmla="*/ 0 w 85725"/>
                  <a:gd name="connsiteY0" fmla="*/ 0 h 64294"/>
                  <a:gd name="connsiteX1" fmla="*/ 85725 w 85725"/>
                  <a:gd name="connsiteY1" fmla="*/ 0 h 64294"/>
                  <a:gd name="connsiteX2" fmla="*/ 21431 w 85725"/>
                  <a:gd name="connsiteY2" fmla="*/ 64294 h 64294"/>
                  <a:gd name="connsiteX3" fmla="*/ 85725 w 85725"/>
                  <a:gd name="connsiteY3" fmla="*/ 64294 h 64294"/>
                  <a:gd name="connsiteX0-1" fmla="*/ 1 w 85726"/>
                  <a:gd name="connsiteY0-2" fmla="*/ 0 h 64294"/>
                  <a:gd name="connsiteX1-3" fmla="*/ 85726 w 85726"/>
                  <a:gd name="connsiteY1-4" fmla="*/ 0 h 64294"/>
                  <a:gd name="connsiteX2-5" fmla="*/ 0 w 85726"/>
                  <a:gd name="connsiteY2-6" fmla="*/ 64294 h 64294"/>
                  <a:gd name="connsiteX3-7" fmla="*/ 85726 w 85726"/>
                  <a:gd name="connsiteY3-8" fmla="*/ 64294 h 6429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85726" h="64294">
                    <a:moveTo>
                      <a:pt x="1" y="0"/>
                    </a:moveTo>
                    <a:lnTo>
                      <a:pt x="85726" y="0"/>
                    </a:lnTo>
                    <a:lnTo>
                      <a:pt x="0" y="64294"/>
                    </a:lnTo>
                    <a:lnTo>
                      <a:pt x="85726" y="64294"/>
                    </a:lnTo>
                  </a:path>
                </a:pathLst>
              </a:custGeom>
              <a:noFill/>
              <a:ln w="9525" cap="sq" cmpd="sng" algn="ctr">
                <a:solidFill>
                  <a:srgbClr val="000000"/>
                </a:solidFill>
                <a:prstDash val="solid"/>
                <a:bevel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grpSp>
            <p:nvGrpSpPr>
              <p:cNvPr id="156" name="Group 146"/>
              <p:cNvGrpSpPr/>
              <p:nvPr/>
            </p:nvGrpSpPr>
            <p:grpSpPr>
              <a:xfrm>
                <a:off x="5392229" y="3484955"/>
                <a:ext cx="1571535" cy="1732561"/>
                <a:chOff x="10970028" y="4971237"/>
                <a:chExt cx="967389" cy="1066513"/>
              </a:xfrm>
            </p:grpSpPr>
            <p:sp>
              <p:nvSpPr>
                <p:cNvPr id="159" name="Oval 149"/>
                <p:cNvSpPr/>
                <p:nvPr/>
              </p:nvSpPr>
              <p:spPr bwMode="gray">
                <a:xfrm>
                  <a:off x="10985381" y="5587033"/>
                  <a:ext cx="66907" cy="66907"/>
                </a:xfrm>
                <a:prstGeom prst="ellipse">
                  <a:avLst/>
                </a:prstGeom>
                <a:solidFill>
                  <a:srgbClr val="000000"/>
                </a:solidFill>
                <a:ln w="2857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180000" tIns="46800" rIns="180000" bIns="45715" numCol="1" rtlCol="0" anchor="ctr" anchorCtr="0" compatLnSpc="1">
                  <a:no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>
                      <a:srgbClr val="000000"/>
                    </a:buClr>
                    <a:buSzPct val="100000"/>
                    <a:buFontTx/>
                    <a:buNone/>
                    <a:defRPr/>
                  </a:pPr>
                  <a:endParaRPr kumimoji="0" lang="en-US" sz="1600" b="0" i="0" u="none" strike="noStrike" kern="0" cap="none" spc="-25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60" name="Oval 150"/>
                <p:cNvSpPr/>
                <p:nvPr/>
              </p:nvSpPr>
              <p:spPr bwMode="gray">
                <a:xfrm>
                  <a:off x="10985381" y="5018553"/>
                  <a:ext cx="66907" cy="66907"/>
                </a:xfrm>
                <a:prstGeom prst="ellipse">
                  <a:avLst/>
                </a:prstGeom>
                <a:solidFill>
                  <a:srgbClr val="FF6969"/>
                </a:solidFill>
                <a:ln w="2857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180000" tIns="46800" rIns="180000" bIns="45715" numCol="1" rtlCol="0" anchor="ctr" anchorCtr="0" compatLnSpc="1">
                  <a:no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>
                      <a:srgbClr val="000000"/>
                    </a:buClr>
                    <a:buSzPct val="100000"/>
                    <a:buFontTx/>
                    <a:buNone/>
                    <a:defRPr/>
                  </a:pPr>
                  <a:endParaRPr kumimoji="0" lang="en-US" sz="1600" b="0" i="0" u="none" strike="noStrike" kern="0" cap="none" spc="-25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61" name="Diamond 151"/>
                <p:cNvSpPr/>
                <p:nvPr/>
              </p:nvSpPr>
              <p:spPr bwMode="gray">
                <a:xfrm>
                  <a:off x="10975231" y="5104802"/>
                  <a:ext cx="87207" cy="87207"/>
                </a:xfrm>
                <a:prstGeom prst="diamond">
                  <a:avLst/>
                </a:prstGeom>
                <a:solidFill>
                  <a:srgbClr val="FF6969"/>
                </a:solidFill>
                <a:ln w="2857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180000" tIns="46800" rIns="180000" bIns="45715" numCol="1" rtlCol="0" anchor="ctr" anchorCtr="0" compatLnSpc="1">
                  <a:no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>
                      <a:srgbClr val="000000"/>
                    </a:buClr>
                    <a:buSzPct val="100000"/>
                    <a:buFontTx/>
                    <a:buNone/>
                    <a:defRPr/>
                  </a:pPr>
                  <a:endParaRPr kumimoji="0" lang="en-US" sz="1600" b="0" i="0" u="none" strike="noStrike" kern="0" cap="none" spc="-25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62" name="Star: 5 Points 152"/>
                <p:cNvSpPr/>
                <p:nvPr/>
              </p:nvSpPr>
              <p:spPr bwMode="gray">
                <a:xfrm>
                  <a:off x="10970028" y="5331159"/>
                  <a:ext cx="97613" cy="97613"/>
                </a:xfrm>
                <a:prstGeom prst="star5">
                  <a:avLst/>
                </a:prstGeom>
                <a:solidFill>
                  <a:srgbClr val="FF6969"/>
                </a:solidFill>
                <a:ln w="2857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180000" tIns="46800" rIns="180000" bIns="45715" numCol="1" rtlCol="0" anchor="ctr" anchorCtr="0" compatLnSpc="1">
                  <a:no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>
                      <a:srgbClr val="000000"/>
                    </a:buClr>
                    <a:buSzPct val="100000"/>
                    <a:buFontTx/>
                    <a:buNone/>
                    <a:defRPr/>
                  </a:pPr>
                  <a:endParaRPr kumimoji="0" lang="en-US" sz="1600" b="0" i="0" u="none" strike="noStrike" kern="0" cap="none" spc="-25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63" name="Isosceles Triangle 153"/>
                <p:cNvSpPr/>
                <p:nvPr/>
              </p:nvSpPr>
              <p:spPr bwMode="gray">
                <a:xfrm>
                  <a:off x="10975804" y="5224701"/>
                  <a:ext cx="86060" cy="73766"/>
                </a:xfrm>
                <a:prstGeom prst="triangle">
                  <a:avLst/>
                </a:prstGeom>
                <a:solidFill>
                  <a:srgbClr val="FF6969"/>
                </a:solidFill>
                <a:ln w="2857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180000" tIns="46800" rIns="180000" bIns="45715" numCol="1" rtlCol="0" anchor="ctr" anchorCtr="0" compatLnSpc="1">
                  <a:no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>
                      <a:srgbClr val="000000"/>
                    </a:buClr>
                    <a:buSzPct val="100000"/>
                    <a:buFontTx/>
                    <a:buNone/>
                    <a:defRPr/>
                  </a:pPr>
                  <a:endParaRPr kumimoji="0" lang="en-US" sz="1600" b="0" i="0" u="none" strike="noStrike" kern="0" cap="none" spc="-25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64" name="Freeform: Shape 154"/>
                <p:cNvSpPr/>
                <p:nvPr/>
              </p:nvSpPr>
              <p:spPr bwMode="gray">
                <a:xfrm>
                  <a:off x="10983614" y="5471475"/>
                  <a:ext cx="70440" cy="52830"/>
                </a:xfrm>
                <a:custGeom>
                  <a:avLst/>
                  <a:gdLst>
                    <a:gd name="connsiteX0" fmla="*/ 0 w 85725"/>
                    <a:gd name="connsiteY0" fmla="*/ 0 h 64294"/>
                    <a:gd name="connsiteX1" fmla="*/ 85725 w 85725"/>
                    <a:gd name="connsiteY1" fmla="*/ 0 h 64294"/>
                    <a:gd name="connsiteX2" fmla="*/ 21431 w 85725"/>
                    <a:gd name="connsiteY2" fmla="*/ 64294 h 64294"/>
                    <a:gd name="connsiteX3" fmla="*/ 85725 w 85725"/>
                    <a:gd name="connsiteY3" fmla="*/ 64294 h 64294"/>
                    <a:gd name="connsiteX0-1" fmla="*/ 1 w 85726"/>
                    <a:gd name="connsiteY0-2" fmla="*/ 0 h 64294"/>
                    <a:gd name="connsiteX1-3" fmla="*/ 85726 w 85726"/>
                    <a:gd name="connsiteY1-4" fmla="*/ 0 h 64294"/>
                    <a:gd name="connsiteX2-5" fmla="*/ 0 w 85726"/>
                    <a:gd name="connsiteY2-6" fmla="*/ 64294 h 64294"/>
                    <a:gd name="connsiteX3-7" fmla="*/ 85726 w 85726"/>
                    <a:gd name="connsiteY3-8" fmla="*/ 64294 h 642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85726" h="64294">
                      <a:moveTo>
                        <a:pt x="1" y="0"/>
                      </a:moveTo>
                      <a:lnTo>
                        <a:pt x="85726" y="0"/>
                      </a:lnTo>
                      <a:lnTo>
                        <a:pt x="0" y="64294"/>
                      </a:lnTo>
                      <a:lnTo>
                        <a:pt x="85726" y="64294"/>
                      </a:lnTo>
                    </a:path>
                  </a:pathLst>
                </a:custGeom>
                <a:noFill/>
                <a:ln w="9525" cap="sq" cmpd="sng" algn="ctr">
                  <a:solidFill>
                    <a:srgbClr val="000000"/>
                  </a:solidFill>
                  <a:prstDash val="solid"/>
                  <a:bevel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65" name="Flowchart: Merge 155"/>
                <p:cNvSpPr/>
                <p:nvPr/>
              </p:nvSpPr>
              <p:spPr bwMode="gray">
                <a:xfrm rot="16200000">
                  <a:off x="10986973" y="5685378"/>
                  <a:ext cx="63725" cy="92934"/>
                </a:xfrm>
                <a:prstGeom prst="flowChartMerg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180000" tIns="46800" rIns="180000" bIns="45715" numCol="1" rtlCol="0" anchor="ctr" anchorCtr="0" compatLnSpc="1">
                  <a:no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>
                      <a:srgbClr val="000000"/>
                    </a:buClr>
                    <a:buSzPct val="100000"/>
                    <a:buFontTx/>
                    <a:buNone/>
                    <a:defRPr/>
                  </a:pPr>
                  <a:endParaRPr kumimoji="0" lang="en-US" sz="1600" b="0" i="0" u="none" strike="noStrike" kern="0" cap="none" spc="-25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66" name="Rectangle 156"/>
                <p:cNvSpPr/>
                <p:nvPr/>
              </p:nvSpPr>
              <p:spPr bwMode="gray">
                <a:xfrm>
                  <a:off x="10979473" y="5821241"/>
                  <a:ext cx="66745" cy="66745"/>
                </a:xfrm>
                <a:prstGeom prst="rect">
                  <a:avLst/>
                </a:prstGeom>
                <a:solidFill>
                  <a:srgbClr val="0000C9"/>
                </a:solidFill>
                <a:ln w="3175" cap="flat" cmpd="sng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180000" tIns="46800" rIns="180000" bIns="45715" numCol="1" rtlCol="0" anchor="ctr" anchorCtr="0" compatLnSpc="1">
                  <a:no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>
                      <a:srgbClr val="000000"/>
                    </a:buClr>
                    <a:buSzPct val="100000"/>
                    <a:buFontTx/>
                    <a:buNone/>
                    <a:defRPr/>
                  </a:pPr>
                  <a:endParaRPr kumimoji="0" lang="en-US" sz="1600" b="0" i="0" u="none" strike="noStrike" kern="0" cap="none" spc="-25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67" name="Rectangle 157"/>
                <p:cNvSpPr/>
                <p:nvPr/>
              </p:nvSpPr>
              <p:spPr bwMode="gray">
                <a:xfrm>
                  <a:off x="10978361" y="5944261"/>
                  <a:ext cx="66745" cy="66745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180000" tIns="46800" rIns="180000" bIns="45715" numCol="1" rtlCol="0" anchor="ctr" anchorCtr="0" compatLnSpc="1">
                  <a:no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>
                      <a:srgbClr val="000000"/>
                    </a:buClr>
                    <a:buSzPct val="100000"/>
                    <a:buFontTx/>
                    <a:buNone/>
                    <a:defRPr/>
                  </a:pPr>
                  <a:endParaRPr kumimoji="0" lang="en-US" sz="1600" b="0" i="0" u="none" strike="noStrike" kern="0" cap="none" spc="-25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68" name="TextBox 158"/>
                <p:cNvSpPr txBox="1"/>
                <p:nvPr/>
              </p:nvSpPr>
              <p:spPr bwMode="gray">
                <a:xfrm>
                  <a:off x="11093142" y="4971237"/>
                  <a:ext cx="207935" cy="12586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spcFirstLastPara="1" wrap="none" lIns="0" tIns="0" rIns="0" bIns="0" rtlCol="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GB" sz="7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charset="-122"/>
                      <a:ea typeface="微软雅黑" charset="-122"/>
                      <a:cs typeface="+mn-cs"/>
                    </a:rPr>
                    <a:t>sCR</a:t>
                  </a:r>
                  <a:endParaRPr kumimoji="0" lang="en-GB" sz="700" b="0" i="0" u="none" strike="noStrike" kern="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69" name="TextBox 159"/>
                <p:cNvSpPr txBox="1"/>
                <p:nvPr/>
              </p:nvSpPr>
              <p:spPr bwMode="gray">
                <a:xfrm>
                  <a:off x="11093142" y="5088817"/>
                  <a:ext cx="207935" cy="12586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spcFirstLastPara="1" wrap="none" lIns="0" tIns="0" rIns="0" bIns="0" rtlCol="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GB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charset="-122"/>
                      <a:ea typeface="微软雅黑" charset="-122"/>
                      <a:cs typeface="+mn-cs"/>
                    </a:rPr>
                    <a:t>CR</a:t>
                  </a:r>
                  <a:endParaRPr kumimoji="0" lang="en-GB" sz="700" b="0" i="0" u="none" strike="noStrike" kern="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70" name="TextBox 160"/>
                <p:cNvSpPr txBox="1"/>
                <p:nvPr/>
              </p:nvSpPr>
              <p:spPr bwMode="gray">
                <a:xfrm>
                  <a:off x="11093142" y="5206397"/>
                  <a:ext cx="277898" cy="12586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spcFirstLastPara="1" wrap="none" lIns="0" tIns="0" rIns="0" bIns="0" rtlCol="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GB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charset="-122"/>
                      <a:ea typeface="微软雅黑" charset="-122"/>
                      <a:cs typeface="+mn-cs"/>
                    </a:rPr>
                    <a:t>VGPR</a:t>
                  </a:r>
                  <a:endParaRPr kumimoji="0" lang="en-GB" sz="700" b="0" i="0" u="none" strike="noStrike" kern="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71" name="TextBox 161"/>
                <p:cNvSpPr txBox="1"/>
                <p:nvPr/>
              </p:nvSpPr>
              <p:spPr bwMode="gray">
                <a:xfrm>
                  <a:off x="11093142" y="5323977"/>
                  <a:ext cx="277898" cy="12586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spcFirstLastPara="1" wrap="none" lIns="0" tIns="0" rIns="0" bIns="0" rtlCol="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GB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charset="-122"/>
                      <a:ea typeface="微软雅黑" charset="-122"/>
                      <a:cs typeface="+mn-cs"/>
                    </a:rPr>
                    <a:t>PR</a:t>
                  </a:r>
                  <a:endParaRPr kumimoji="0" lang="en-GB" sz="700" b="0" i="0" u="none" strike="noStrike" kern="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72" name="TextBox 162"/>
                <p:cNvSpPr txBox="1"/>
                <p:nvPr/>
              </p:nvSpPr>
              <p:spPr bwMode="gray">
                <a:xfrm>
                  <a:off x="11093142" y="5441557"/>
                  <a:ext cx="647218" cy="12586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spcFirstLastPara="1" wrap="none" lIns="0" tIns="0" rIns="0" bIns="0" rtlCol="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charset="-122"/>
                      <a:ea typeface="微软雅黑" charset="-122"/>
                      <a:cs typeface="+mn-cs"/>
                    </a:rPr>
                    <a:t>明确的</a:t>
                  </a:r>
                  <a:r>
                    <a:rPr kumimoji="0" lang="en-GB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charset="-122"/>
                      <a:ea typeface="微软雅黑" charset="-122"/>
                      <a:cs typeface="+mn-cs"/>
                    </a:rPr>
                    <a:t>PD</a:t>
                  </a:r>
                  <a:endParaRPr kumimoji="0" lang="en-GB" sz="700" b="0" i="0" u="none" strike="noStrike" kern="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73" name="TextBox 163"/>
                <p:cNvSpPr txBox="1"/>
                <p:nvPr/>
              </p:nvSpPr>
              <p:spPr bwMode="gray">
                <a:xfrm>
                  <a:off x="11093142" y="5559137"/>
                  <a:ext cx="255689" cy="12586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spcFirstLastPara="1" wrap="none" lIns="0" tIns="0" rIns="0" bIns="0" rtlCol="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charset="-122"/>
                      <a:ea typeface="微软雅黑" charset="-122"/>
                      <a:cs typeface="+mn-cs"/>
                    </a:rPr>
                    <a:t>死亡</a:t>
                  </a:r>
                  <a:endParaRPr kumimoji="0" lang="en-GB" sz="700" b="0" i="0" u="none" strike="noStrike" kern="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74" name="TextBox 164"/>
                <p:cNvSpPr txBox="1"/>
                <p:nvPr/>
              </p:nvSpPr>
              <p:spPr bwMode="gray">
                <a:xfrm>
                  <a:off x="11093142" y="5676717"/>
                  <a:ext cx="844275" cy="126546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spcFirstLastPara="1" wrap="none" lIns="0" tIns="0" rIns="0" bIns="0" rtlCol="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charset="-122"/>
                      <a:ea typeface="微软雅黑" charset="-122"/>
                      <a:cs typeface="+mn-cs"/>
                    </a:rPr>
                    <a:t>持续进行，无事件发生</a:t>
                  </a:r>
                  <a:endParaRPr kumimoji="0" lang="en-GB" sz="700" b="0" i="0" u="none" strike="noStrike" kern="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75" name="TextBox 165"/>
                <p:cNvSpPr txBox="1"/>
                <p:nvPr/>
              </p:nvSpPr>
              <p:spPr bwMode="gray">
                <a:xfrm>
                  <a:off x="11093142" y="5794297"/>
                  <a:ext cx="617183" cy="12586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spcFirstLastPara="1" wrap="none" lIns="0" tIns="0" rIns="0" bIns="0" rtlCol="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charset="-122"/>
                      <a:ea typeface="微软雅黑" charset="-122"/>
                      <a:cs typeface="+mn-cs"/>
                    </a:rPr>
                    <a:t>正在接受治疗</a:t>
                  </a:r>
                  <a:endParaRPr kumimoji="0" lang="en-GB" sz="700" b="0" i="0" u="none" strike="noStrike" kern="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176" name="TextBox 166"/>
                <p:cNvSpPr txBox="1"/>
                <p:nvPr/>
              </p:nvSpPr>
              <p:spPr bwMode="gray">
                <a:xfrm>
                  <a:off x="11093142" y="5911881"/>
                  <a:ext cx="617183" cy="12586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spcFirstLastPara="1" wrap="none" lIns="0" tIns="0" rIns="0" bIns="0" rtlCol="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charset="-122"/>
                      <a:ea typeface="微软雅黑" charset="-122"/>
                      <a:cs typeface="+mn-cs"/>
                    </a:rPr>
                    <a:t>停止治疗</a:t>
                  </a:r>
                  <a:endParaRPr kumimoji="0" lang="en-GB" sz="700" b="0" i="0" u="none" strike="noStrike" kern="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endParaRPr>
                </a:p>
              </p:txBody>
            </p:sp>
          </p:grpSp>
          <p:sp>
            <p:nvSpPr>
              <p:cNvPr id="157" name="Right Bracket 147"/>
              <p:cNvSpPr/>
              <p:nvPr/>
            </p:nvSpPr>
            <p:spPr>
              <a:xfrm flipH="1">
                <a:off x="5290583" y="3568896"/>
                <a:ext cx="78252" cy="655295"/>
              </a:xfrm>
              <a:prstGeom prst="rightBracket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  <p:sp>
            <p:nvSpPr>
              <p:cNvPr id="158" name="TextBox 148"/>
              <p:cNvSpPr txBox="1"/>
              <p:nvPr/>
            </p:nvSpPr>
            <p:spPr bwMode="gray">
              <a:xfrm>
                <a:off x="4609356" y="3717336"/>
                <a:ext cx="575870" cy="35841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spcFirstLastPara="1" wrap="square" lIns="0" tIns="0" rIns="0" bIns="0" rtlCol="0" anchor="ctr" anchorCtr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+mn-cs"/>
                  </a:rPr>
                  <a:t>最佳总体缓解</a:t>
                </a:r>
                <a:endParaRPr kumimoji="0" lang="en-GB" sz="7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endParaRPr>
              </a:p>
            </p:txBody>
          </p:sp>
        </p:grpSp>
        <p:sp>
          <p:nvSpPr>
            <p:cNvPr id="177" name="文本框 176"/>
            <p:cNvSpPr txBox="1"/>
            <p:nvPr/>
          </p:nvSpPr>
          <p:spPr>
            <a:xfrm>
              <a:off x="7694641" y="1497498"/>
              <a:ext cx="2867304" cy="460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9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治疗和缓解的持续时间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95309" y="1412082"/>
            <a:ext cx="5738102" cy="1516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在</a:t>
            </a:r>
            <a:r>
              <a:rPr kumimoji="0" lang="it-IT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MagnetisMM-3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纳入的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187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名患者中，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30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名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患者符合事后分析纳入标准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中位年龄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68.5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岁（范围：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52-84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50.0%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为女性，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66.7%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为白人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患者中位既往治疗线数为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（范围：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2-14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）；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100%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三重难治，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33.3%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五重难治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pic>
        <p:nvPicPr>
          <p:cNvPr id="180" name="图片 179"/>
          <p:cNvPicPr/>
          <p:nvPr/>
        </p:nvPicPr>
        <p:blipFill>
          <a:blip r:embed="rId2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02378" y="0"/>
            <a:ext cx="889621" cy="92241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4115085" y="1534160"/>
            <a:ext cx="7802880" cy="373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5"/>
          <p:cNvSpPr txBox="1"/>
          <p:nvPr/>
        </p:nvSpPr>
        <p:spPr>
          <a:xfrm>
            <a:off x="7517550" y="1671360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2005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PFS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2005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和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2005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OS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2005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4" name="Rectangle: Rounded Corners 9"/>
          <p:cNvSpPr/>
          <p:nvPr/>
        </p:nvSpPr>
        <p:spPr bwMode="gray">
          <a:xfrm>
            <a:off x="339213" y="1534161"/>
            <a:ext cx="3678574" cy="3731100"/>
          </a:xfrm>
          <a:prstGeom prst="roundRect">
            <a:avLst>
              <a:gd name="adj" fmla="val 6971"/>
            </a:avLst>
          </a:prstGeom>
          <a:solidFill>
            <a:srgbClr val="E0F5FF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80000" tIns="46800" rIns="180000" bIns="45715" numCol="1" rtlCol="0" anchor="t" anchorCtr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fizer Diatype Office"/>
              <a:ea typeface="微软雅黑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2587" y="2204983"/>
            <a:ext cx="3314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结果：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PFS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OS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7197" y="2773986"/>
            <a:ext cx="3562606" cy="1917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中位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PFS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尚未达到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95% CI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NE-NE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45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个月无事件生存率为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72.7%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95% CI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50.7–86.1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中位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OS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尚未达到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 95% CI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NE-NE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45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个月生存率为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C9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76.6%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95% CI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54.8–88.9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290122" y="2226763"/>
            <a:ext cx="7501990" cy="2896915"/>
            <a:chOff x="4320460" y="2231296"/>
            <a:chExt cx="7501990" cy="2896915"/>
          </a:xfrm>
        </p:grpSpPr>
        <p:pic>
          <p:nvPicPr>
            <p:cNvPr id="3" name="Picture 8" descr="A graph and diagram of a graph&#10;&#10;AI-generated content may be incorrect.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6304" y="2231296"/>
              <a:ext cx="7456146" cy="2896915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5060456" y="4695582"/>
              <a:ext cx="2884714" cy="20604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8639322" y="4695582"/>
              <a:ext cx="2884714" cy="20604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 rot="16200000">
              <a:off x="3794613" y="3432660"/>
              <a:ext cx="1517256" cy="20897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概率，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%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 rot="16200000">
              <a:off x="7481461" y="3432660"/>
              <a:ext cx="1517256" cy="20897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概率，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%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431780" y="2914407"/>
              <a:ext cx="857250" cy="24789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45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个月概率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690638" y="3038354"/>
              <a:ext cx="857250" cy="24789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45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个月概率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019297" y="4752284"/>
              <a:ext cx="547759" cy="2986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存在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风险人数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320460" y="4752285"/>
              <a:ext cx="480140" cy="2986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存在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</a:rPr>
                <a:t>风险人数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339213" y="5711642"/>
            <a:ext cx="104369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CI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：置信区间；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NE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：不可评估；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OS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：总生存期；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PFS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：无进展生存期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9213" y="192266"/>
            <a:ext cx="11513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MagnetisMM-3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研究的回顾性分析：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  <a:p>
            <a:pPr lvl="0">
              <a:defRPr/>
            </a:pPr>
            <a:r>
              <a:rPr lang="zh-CN" altLang="en-US" sz="2000" b="1" dirty="0">
                <a:solidFill>
                  <a:srgbClr val="002060"/>
                </a:solidFill>
              </a:rPr>
              <a:t>持续缓解超</a:t>
            </a:r>
            <a:r>
              <a:rPr lang="en-US" altLang="zh-CN" sz="2000" b="1" dirty="0">
                <a:solidFill>
                  <a:srgbClr val="002060"/>
                </a:solidFill>
              </a:rPr>
              <a:t>6</a:t>
            </a:r>
            <a:r>
              <a:rPr lang="zh-CN" altLang="en-US" sz="2000" b="1" dirty="0">
                <a:solidFill>
                  <a:srgbClr val="002060"/>
                </a:solidFill>
              </a:rPr>
              <a:t>个月停止治疗后，仍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可实现长期生存获益：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45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个月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PFS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OS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率均高于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70%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30426" y="6137152"/>
            <a:ext cx="7258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Lesokhin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 AM et al. Prolonged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Elranatamab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 Treatment Interruption in Patients With Relapsed or Refractory Multiple Myeloma is Feasible: A Retrospective Analysis From MagnetisMM-3. Poster presented at ASH 2025 (Abstract 2269).  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/>
          <p:cNvSpPr/>
          <p:nvPr/>
        </p:nvSpPr>
        <p:spPr>
          <a:xfrm>
            <a:off x="545164" y="272181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514350" indent="-514350">
              <a:buFont typeface="Arial" panose="020B0604020202090204"/>
              <a:buAutoNum type="arabicPeriod"/>
            </a:pPr>
            <a:r>
              <a:rPr lang="zh-CN" altLang="en-US" sz="3200" dirty="0"/>
              <a:t>病例汇报</a:t>
            </a:r>
            <a:endParaRPr lang="en-US" altLang="zh-CN" sz="3200" dirty="0"/>
          </a:p>
          <a:p>
            <a:pPr marL="514350" indent="-514350">
              <a:buFont typeface="Arial" panose="020B0604020202090204"/>
              <a:buAutoNum type="arabicPeriod"/>
            </a:pPr>
            <a:endParaRPr lang="en-US" altLang="zh-CN" sz="3200" dirty="0"/>
          </a:p>
          <a:p>
            <a:pPr marL="514350" indent="-514350">
              <a:buFont typeface="Arial" panose="020B0604020202090204"/>
              <a:buAutoNum type="arabicPeriod"/>
            </a:pPr>
            <a:r>
              <a:rPr lang="zh-CN" altLang="en-US" sz="3200" dirty="0">
                <a:solidFill>
                  <a:schemeClr val="tx1"/>
                </a:solidFill>
              </a:rPr>
              <a:t>文献回顾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marL="514350" indent="-514350">
              <a:buFont typeface="Arial" panose="020B0604020202090204"/>
              <a:buAutoNum type="arabicPeriod"/>
            </a:pPr>
            <a:endParaRPr lang="en-US" altLang="zh-CN" sz="3200" dirty="0"/>
          </a:p>
          <a:p>
            <a:pPr marL="514350" indent="-514350">
              <a:buFont typeface="Arial" panose="020B0604020202090204"/>
              <a:buAutoNum type="arabicPeriod"/>
            </a:pPr>
            <a:r>
              <a:rPr lang="zh-CN" altLang="en-US" sz="3200" b="1" dirty="0">
                <a:solidFill>
                  <a:srgbClr val="C00000"/>
                </a:solidFill>
              </a:rPr>
              <a:t>总结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27496" y="1568082"/>
            <a:ext cx="9810550" cy="5539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zh-CN" altLang="en-US" sz="2400" b="0" i="0" u="none" strike="noStrike" dirty="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埃纳妥单抗可用于</a:t>
            </a:r>
            <a:r>
              <a:rPr lang="en-US" altLang="zh-CN" sz="2400" b="0" i="0" u="none" strike="noStrike" dirty="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BCMA CAR-T </a:t>
            </a:r>
            <a:r>
              <a:rPr lang="en-US" altLang="zh-CN" sz="2400" b="0" i="0" u="none" strike="noStrike" dirty="0" err="1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治疗后复发</a:t>
            </a:r>
            <a:r>
              <a:rPr lang="zh-CN" altLang="en-US" sz="2400" b="0" i="0" u="none" strike="noStrike" dirty="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的患者，对于</a:t>
            </a:r>
            <a:r>
              <a:rPr lang="en-US" altLang="zh-CN" sz="2400" dirty="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BCMA</a:t>
            </a:r>
            <a:r>
              <a:rPr lang="zh-CN" altLang="en-US" sz="2400" dirty="0">
                <a:solidFill>
                  <a:srgbClr val="2D2D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高表达的患者仍有显著疗效。</a:t>
            </a:r>
            <a:endParaRPr lang="en-US" altLang="zh-CN" sz="2400" dirty="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endParaRPr lang="en-US" altLang="zh-CN" sz="2400" dirty="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zh-CN" altLang="en-US" sz="2400" dirty="0"/>
              <a:t>埃纳妥单抗治疗实现持久的缓解，降低给药频率后仍可长期维持缓解。</a:t>
            </a:r>
            <a:endParaRPr lang="en-US" altLang="zh-CN" sz="2400" dirty="0"/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endParaRPr lang="en-US" altLang="zh-CN" sz="2400" dirty="0"/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zh-CN" altLang="en-US" sz="2400" dirty="0"/>
              <a:t>停药或中断后，大多数患者仍能维持深度缓解，最佳</a:t>
            </a:r>
            <a:r>
              <a:rPr lang="en-US" altLang="zh-CN" sz="2400" dirty="0"/>
              <a:t>ORR</a:t>
            </a:r>
            <a:r>
              <a:rPr lang="zh-CN" altLang="en-US" sz="2400" dirty="0"/>
              <a:t>率高达</a:t>
            </a:r>
            <a:r>
              <a:rPr lang="en-US" altLang="zh-CN" sz="2400" dirty="0"/>
              <a:t>100%</a:t>
            </a:r>
            <a:r>
              <a:rPr lang="zh-CN" altLang="en-US" sz="2400" dirty="0"/>
              <a:t>；且恢复用药后仍然有效。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2D2D2D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endParaRPr lang="zh-CN" altLang="en-US" sz="2000" dirty="0"/>
          </a:p>
        </p:txBody>
      </p:sp>
      <p:sp>
        <p:nvSpPr>
          <p:cNvPr id="4" name="AutoShape 4"/>
          <p:cNvSpPr/>
          <p:nvPr/>
        </p:nvSpPr>
        <p:spPr>
          <a:xfrm>
            <a:off x="405130" y="362585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600" b="1" i="0" u="none" strike="noStrike" dirty="0" err="1">
                <a:solidFill>
                  <a:srgbClr val="1B3A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zh-CN" altLang="en-US" sz="2600" b="1" i="0" u="none" strike="noStrike" dirty="0" err="1">
              <a:solidFill>
                <a:srgbClr val="1B3A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/>
        </p:nvPicPr>
        <p:blipFill>
          <a:blip r:embed="rId1">
            <a:alphaModFix amt="20000"/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84400" y="-487045"/>
            <a:ext cx="7822565" cy="750316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3810000" y="26416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181600" y="3759200"/>
            <a:ext cx="1828800" cy="381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810000" y="40386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1E7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苏州大学附属第一医院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6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10248</Words>
  <Application>WPS 表格</Application>
  <PresentationFormat>宽屏</PresentationFormat>
  <Paragraphs>962</Paragraphs>
  <Slides>32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32</vt:i4>
      </vt:variant>
    </vt:vector>
  </HeadingPairs>
  <TitlesOfParts>
    <vt:vector size="64" baseType="lpstr">
      <vt:lpstr>Arial</vt:lpstr>
      <vt:lpstr>宋体</vt:lpstr>
      <vt:lpstr>Wingdings</vt:lpstr>
      <vt:lpstr>Arial</vt:lpstr>
      <vt:lpstr>Calibri</vt:lpstr>
      <vt:lpstr>Helvetica Neue</vt:lpstr>
      <vt:lpstr>Noto Sans SC</vt:lpstr>
      <vt:lpstr>冬青黑体简体中文</vt:lpstr>
      <vt:lpstr>Cambria Math</vt:lpstr>
      <vt:lpstr>微软雅黑</vt:lpstr>
      <vt:lpstr>汉仪旗黑</vt:lpstr>
      <vt:lpstr>宋体</vt:lpstr>
      <vt:lpstr>Arial Unicode MS</vt:lpstr>
      <vt:lpstr>汉仪书宋二KW</vt:lpstr>
      <vt:lpstr>Pfizer Diatype Office</vt:lpstr>
      <vt:lpstr>Thonburi</vt:lpstr>
      <vt:lpstr>Kingsoft Math</vt:lpstr>
      <vt:lpstr>Noto Sans SC</vt:lpstr>
      <vt:lpstr>Pfizer Diatype Office</vt:lpstr>
      <vt:lpstr>微软雅黑</vt:lpstr>
      <vt:lpstr>苹方-简</vt:lpstr>
      <vt:lpstr>DejaVu Math TeX Gyre</vt:lpstr>
      <vt:lpstr>宋体-简</vt:lpstr>
      <vt:lpstr>Office 主题​​</vt:lpstr>
      <vt:lpstr>自定义主题</vt:lpstr>
      <vt:lpstr>Office Theme</vt:lpstr>
      <vt:lpstr>1_自定义主题</vt:lpstr>
      <vt:lpstr>3_自定义主题</vt:lpstr>
      <vt:lpstr>4_自定义主题</vt:lpstr>
      <vt:lpstr>5_自定义主题</vt:lpstr>
      <vt:lpstr>2_自定义主题</vt:lpstr>
      <vt:lpstr>6_自定义主题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ZHOUC</dc:creator>
  <cp:lastModifiedBy>白马非马</cp:lastModifiedBy>
  <cp:revision>86</cp:revision>
  <dcterms:created xsi:type="dcterms:W3CDTF">2026-09-26T17:23:51Z</dcterms:created>
  <dcterms:modified xsi:type="dcterms:W3CDTF">2026-09-26T17:23:51Z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A9133F0C7DF80DE253D2B76A866B12D2_43</vt:lpwstr>
  </property>
</Properties>
</file>